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Nunito"/>
      <p:regular r:id="rId18"/>
      <p:bold r:id="rId19"/>
      <p:italic r:id="rId20"/>
      <p:boldItalic r:id="rId21"/>
    </p:embeddedFon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22" Type="http://schemas.openxmlformats.org/officeDocument/2006/relationships/font" Target="fonts/GoogleSans-regular.fntdata"/><Relationship Id="rId21" Type="http://schemas.openxmlformats.org/officeDocument/2006/relationships/font" Target="fonts/Nunito-boldItalic.fntdata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Nunito-bold.fntdata"/><Relationship Id="rId18" Type="http://schemas.openxmlformats.org/officeDocument/2006/relationships/font" Target="fonts/Nuni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56e95d58f_2_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f56e95d58f_2_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f56e95d58f_2_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56e95d58f_2_1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g3f56e95d58f_2_1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f56e95d58f_2_1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56e95d58f_2_28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g3f56e95d58f_2_28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f56e95d58f_2_28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56e95d58f_2_51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g3f56e95d58f_2_51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f56e95d58f_2_51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56e95d58f_2_79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g3f56e95d58f_2_79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f56e95d58f_2_79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56e95d58f_2_9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g3f56e95d58f_2_9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f56e95d58f_2_9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56e95d58f_2_116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g3f56e95d58f_2_11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f56e95d58f_2_11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56e95d58f_2_139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g3f56e95d58f_2_139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f56e95d58f_2_139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56e95d58f_2_16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g3f56e95d58f_2_16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f56e95d58f_2_16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56e95d58f_2_186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g3f56e95d58f_2_18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f56e95d58f_2_18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56e95d58f_2_216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g3f56e95d58f_2_21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f56e95d58f_2_21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4217670"/>
            <a:ext cx="9141714" cy="41148"/>
          </a:xfrm>
          <a:prstGeom prst="rect">
            <a:avLst/>
          </a:prstGeom>
          <a:solidFill>
            <a:srgbClr val="028F3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617220" y="1579533"/>
            <a:ext cx="78867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1F2323"/>
                </a:solidFill>
                <a:latin typeface="Google Sans"/>
                <a:ea typeface="Google Sans"/>
                <a:cs typeface="Google Sans"/>
                <a:sym typeface="Google Sans"/>
              </a:rPr>
              <a:t>PITCH DECK TEMPLATE</a:t>
            </a:r>
            <a:endParaRPr i="0" sz="30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640080" y="2075642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1813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E41813"/>
                </a:solidFill>
                <a:latin typeface="Google Sans"/>
                <a:ea typeface="Google Sans"/>
                <a:cs typeface="Google Sans"/>
                <a:sym typeface="Google Sans"/>
              </a:rPr>
              <a:t>Afrihealth Innovation Challenge 2026 </a:t>
            </a:r>
            <a:endParaRPr i="0" sz="11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1645926" y="3134425"/>
            <a:ext cx="6780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b="1" i="1" lang="en" sz="1000" u="none" cap="none" strike="noStrike">
                <a:solidFill>
                  <a:srgbClr val="6B7573"/>
                </a:solidFill>
                <a:latin typeface="Google Sans"/>
                <a:ea typeface="Google Sans"/>
                <a:cs typeface="Google Sans"/>
                <a:sym typeface="Google Sans"/>
              </a:rPr>
              <a:t>Replace the guidance text on each slide with your own content. You have 100% Creative freedom on text, design and layout. This template is only intended as a guide and used only for the branding. Edit and add images as you see fit.</a:t>
            </a:r>
            <a:endParaRPr b="1" i="0" sz="10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descr="footer.png" id="61" name="Google Shape;6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7100" y="4720636"/>
            <a:ext cx="4526280" cy="282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png" id="62" name="Google Shape;6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610" y="240030"/>
            <a:ext cx="1062990" cy="435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68" name="Google Shape;6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610" y="240030"/>
            <a:ext cx="1062990" cy="435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png" id="69" name="Google Shape;69;p16"/>
          <p:cNvPicPr preferRelativeResize="0"/>
          <p:nvPr/>
        </p:nvPicPr>
        <p:blipFill rotWithShape="1">
          <a:blip r:embed="rId4">
            <a:alphaModFix amt="22000"/>
          </a:blip>
          <a:srcRect b="0" l="0" r="0" t="0"/>
          <a:stretch/>
        </p:blipFill>
        <p:spPr>
          <a:xfrm>
            <a:off x="2719197" y="1559364"/>
            <a:ext cx="3703320" cy="223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70" name="Google Shape;7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07717" y="4709899"/>
            <a:ext cx="4526280" cy="2827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/>
          <p:nvPr/>
        </p:nvSpPr>
        <p:spPr>
          <a:xfrm>
            <a:off x="8215884" y="240030"/>
            <a:ext cx="4114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028F35"/>
                </a:solidFill>
                <a:latin typeface="Google Sans"/>
                <a:ea typeface="Google Sans"/>
                <a:cs typeface="Google Sans"/>
                <a:sym typeface="Google Sans"/>
              </a:rPr>
              <a:t>01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6672834" y="548640"/>
            <a:ext cx="19545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6B7573"/>
                </a:solidFill>
                <a:latin typeface="Google Sans"/>
                <a:ea typeface="Google Sans"/>
                <a:cs typeface="Google Sans"/>
                <a:sym typeface="Google Sans"/>
              </a:rPr>
              <a:t>THE PROBLEM</a:t>
            </a:r>
            <a:endParaRPr sz="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308610" y="1062990"/>
            <a:ext cx="65151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23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</a:t>
            </a:r>
            <a:endParaRPr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308610" y="1591056"/>
            <a:ext cx="67208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28F35"/>
                </a:solidFill>
                <a:latin typeface="Nunito"/>
                <a:ea typeface="Nunito"/>
                <a:cs typeface="Nunito"/>
                <a:sym typeface="Nunito"/>
              </a:rPr>
              <a:t>What health challenge are you solving?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308610" y="2023110"/>
            <a:ext cx="5212080" cy="2331720"/>
          </a:xfrm>
          <a:prstGeom prst="roundRect">
            <a:avLst>
              <a:gd fmla="val 2353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480060" y="2160270"/>
            <a:ext cx="486918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• Describe the specific health system or patient problem in Africa you are addressing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• Who experiences this problem, and how often?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• Use one concrete statistic or short story to make it real — avoid generic claims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• Keep this to 3–4 sentences or bullets; save the deep detail for Q&amp;A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5692140" y="2023110"/>
            <a:ext cx="3120390" cy="2331720"/>
          </a:xfrm>
          <a:prstGeom prst="roundRect">
            <a:avLst>
              <a:gd fmla="val 2353" name="adj"/>
            </a:avLst>
          </a:prstGeom>
          <a:solidFill>
            <a:srgbClr val="FDECEB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5863590" y="2160270"/>
            <a:ext cx="277749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Supporting data point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[Insert one striking statistic —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e.g. affected population,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cost burden, or access gap]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84" name="Google Shape;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610" y="240030"/>
            <a:ext cx="1062990" cy="435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png" id="85" name="Google Shape;85;p17"/>
          <p:cNvPicPr preferRelativeResize="0"/>
          <p:nvPr/>
        </p:nvPicPr>
        <p:blipFill rotWithShape="1">
          <a:blip r:embed="rId4">
            <a:alphaModFix amt="22000"/>
          </a:blip>
          <a:srcRect b="0" l="0" r="0" t="0"/>
          <a:stretch/>
        </p:blipFill>
        <p:spPr>
          <a:xfrm>
            <a:off x="2719197" y="1559364"/>
            <a:ext cx="3703320" cy="223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86" name="Google Shape;8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07717" y="4709899"/>
            <a:ext cx="4526280" cy="2827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/>
          <p:nvPr/>
        </p:nvSpPr>
        <p:spPr>
          <a:xfrm>
            <a:off x="8215884" y="240030"/>
            <a:ext cx="4114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028F35"/>
                </a:solidFill>
                <a:latin typeface="Google Sans"/>
                <a:ea typeface="Google Sans"/>
                <a:cs typeface="Google Sans"/>
                <a:sym typeface="Google Sans"/>
              </a:rPr>
              <a:t>02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6672834" y="548640"/>
            <a:ext cx="19545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6B7573"/>
                </a:solidFill>
                <a:latin typeface="Google Sans"/>
                <a:ea typeface="Google Sans"/>
                <a:cs typeface="Google Sans"/>
                <a:sym typeface="Google Sans"/>
              </a:rPr>
              <a:t>THE SOLUTION</a:t>
            </a:r>
            <a:endParaRPr sz="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308610" y="1062990"/>
            <a:ext cx="65151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23"/>
                </a:solidFill>
                <a:latin typeface="Google Sans"/>
                <a:ea typeface="Google Sans"/>
                <a:cs typeface="Google Sans"/>
                <a:sym typeface="Google Sans"/>
              </a:rPr>
              <a:t>Your Solution</a:t>
            </a:r>
            <a:endParaRPr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308610" y="1591056"/>
            <a:ext cx="67208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28F35"/>
                </a:solidFill>
                <a:latin typeface="Google Sans"/>
                <a:ea typeface="Google Sans"/>
                <a:cs typeface="Google Sans"/>
                <a:sym typeface="Google Sans"/>
              </a:rPr>
              <a:t>How does your innovation solve it?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308610" y="1988820"/>
            <a:ext cx="2743200" cy="377190"/>
          </a:xfrm>
          <a:prstGeom prst="roundRect">
            <a:avLst>
              <a:gd fmla="val 10909" name="adj"/>
            </a:avLst>
          </a:prstGeom>
          <a:solidFill>
            <a:srgbClr val="028F3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308610" y="1988820"/>
            <a:ext cx="27432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What it is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308610" y="2434590"/>
            <a:ext cx="2743200" cy="1714500"/>
          </a:xfrm>
          <a:prstGeom prst="roundRect">
            <a:avLst>
              <a:gd fmla="val 32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480060" y="2571750"/>
            <a:ext cx="24003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One-sentence description of your product or service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3223260" y="1988820"/>
            <a:ext cx="2743200" cy="377190"/>
          </a:xfrm>
          <a:prstGeom prst="roundRect">
            <a:avLst>
              <a:gd fmla="val 10909" name="adj"/>
            </a:avLst>
          </a:prstGeom>
          <a:solidFill>
            <a:srgbClr val="028F3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3223260" y="1988820"/>
            <a:ext cx="27432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How it works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3223260" y="2434590"/>
            <a:ext cx="2743200" cy="1714500"/>
          </a:xfrm>
          <a:prstGeom prst="roundRect">
            <a:avLst>
              <a:gd fmla="val 32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3394710" y="2571750"/>
            <a:ext cx="24003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The core mechanism — technology, workflow, or delivery model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6137910" y="1988820"/>
            <a:ext cx="2743200" cy="377190"/>
          </a:xfrm>
          <a:prstGeom prst="roundRect">
            <a:avLst>
              <a:gd fmla="val 10909" name="adj"/>
            </a:avLst>
          </a:prstGeom>
          <a:solidFill>
            <a:srgbClr val="028F3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6137910" y="1988820"/>
            <a:ext cx="27432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Why it's different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6137910" y="2434590"/>
            <a:ext cx="2743200" cy="1714500"/>
          </a:xfrm>
          <a:prstGeom prst="roundRect">
            <a:avLst>
              <a:gd fmla="val 32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6309360" y="2571750"/>
            <a:ext cx="24003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The unique insight or advantage competitors don't have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08" name="Google Shape;10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610" y="240030"/>
            <a:ext cx="1062990" cy="435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png" id="109" name="Google Shape;109;p18"/>
          <p:cNvPicPr preferRelativeResize="0"/>
          <p:nvPr/>
        </p:nvPicPr>
        <p:blipFill rotWithShape="1">
          <a:blip r:embed="rId4">
            <a:alphaModFix amt="22000"/>
          </a:blip>
          <a:srcRect b="0" l="0" r="0" t="0"/>
          <a:stretch/>
        </p:blipFill>
        <p:spPr>
          <a:xfrm>
            <a:off x="2719197" y="1559364"/>
            <a:ext cx="3703320" cy="223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10" name="Google Shape;11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07717" y="4709899"/>
            <a:ext cx="4526280" cy="28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/>
          <p:nvPr/>
        </p:nvSpPr>
        <p:spPr>
          <a:xfrm>
            <a:off x="8215884" y="240030"/>
            <a:ext cx="4114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028F35"/>
                </a:solidFill>
                <a:latin typeface="Google Sans"/>
                <a:ea typeface="Google Sans"/>
                <a:cs typeface="Google Sans"/>
                <a:sym typeface="Google Sans"/>
              </a:rPr>
              <a:t>03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6672834" y="548640"/>
            <a:ext cx="19545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6B7573"/>
                </a:solidFill>
                <a:latin typeface="Google Sans"/>
                <a:ea typeface="Google Sans"/>
                <a:cs typeface="Google Sans"/>
                <a:sym typeface="Google Sans"/>
              </a:rPr>
              <a:t>PRODUCT</a:t>
            </a:r>
            <a:endParaRPr sz="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308610" y="1062990"/>
            <a:ext cx="65151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23"/>
                </a:solidFill>
                <a:latin typeface="Google Sans"/>
                <a:ea typeface="Google Sans"/>
                <a:cs typeface="Google Sans"/>
                <a:sym typeface="Google Sans"/>
              </a:rPr>
              <a:t>Product Overview</a:t>
            </a:r>
            <a:endParaRPr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308610" y="1591056"/>
            <a:ext cx="67208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28F35"/>
                </a:solidFill>
                <a:latin typeface="Nunito"/>
                <a:ea typeface="Nunito"/>
                <a:cs typeface="Nunito"/>
                <a:sym typeface="Nunito"/>
              </a:rPr>
              <a:t>Show the user journey or workflow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308610" y="2023110"/>
            <a:ext cx="8503920" cy="685800"/>
          </a:xfrm>
          <a:prstGeom prst="roundRect">
            <a:avLst>
              <a:gd fmla="val 80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480060" y="2160270"/>
            <a:ext cx="81610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Insert 3–5 step process diagram, screenshots, or prototype images showing how a user experiences your product end-to-end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308610" y="2914650"/>
            <a:ext cx="1885950" cy="1303020"/>
          </a:xfrm>
          <a:prstGeom prst="roundRect">
            <a:avLst>
              <a:gd fmla="val 4211" name="adj"/>
            </a:avLst>
          </a:prstGeom>
          <a:solidFill>
            <a:srgbClr val="EAF6EE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308610" y="3051810"/>
            <a:ext cx="18859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23"/>
                </a:solidFill>
                <a:latin typeface="Nunito"/>
                <a:ea typeface="Nunito"/>
                <a:cs typeface="Nunito"/>
                <a:sym typeface="Nunito"/>
              </a:rPr>
              <a:t>Step 1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411480" y="3360420"/>
            <a:ext cx="168021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i="1" lang="en" sz="8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[brief description]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2194560" y="3326130"/>
            <a:ext cx="2606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500"/>
              <a:buFont typeface="Calibri"/>
              <a:buNone/>
            </a:pPr>
            <a:r>
              <a:rPr b="1" lang="en" sz="1500">
                <a:solidFill>
                  <a:srgbClr val="6B757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2455164" y="2914650"/>
            <a:ext cx="1885950" cy="1303020"/>
          </a:xfrm>
          <a:prstGeom prst="roundRect">
            <a:avLst>
              <a:gd fmla="val 4211" name="adj"/>
            </a:avLst>
          </a:prstGeom>
          <a:solidFill>
            <a:srgbClr val="FDECEB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2455164" y="3051810"/>
            <a:ext cx="18859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23"/>
                </a:solidFill>
                <a:latin typeface="Nunito"/>
                <a:ea typeface="Nunito"/>
                <a:cs typeface="Nunito"/>
                <a:sym typeface="Nunito"/>
              </a:rPr>
              <a:t>Step 2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2558034" y="3360420"/>
            <a:ext cx="168021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i="1" lang="en" sz="8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[brief description]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4341114" y="3326130"/>
            <a:ext cx="2606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500"/>
              <a:buFont typeface="Calibri"/>
              <a:buNone/>
            </a:pPr>
            <a:r>
              <a:rPr b="1" lang="en" sz="1500">
                <a:solidFill>
                  <a:srgbClr val="6B757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4601718" y="2914650"/>
            <a:ext cx="1885950" cy="1303020"/>
          </a:xfrm>
          <a:prstGeom prst="roundRect">
            <a:avLst>
              <a:gd fmla="val 4211" name="adj"/>
            </a:avLst>
          </a:prstGeom>
          <a:solidFill>
            <a:srgbClr val="EAF6EE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4601718" y="3051810"/>
            <a:ext cx="18859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23"/>
                </a:solidFill>
                <a:latin typeface="Nunito"/>
                <a:ea typeface="Nunito"/>
                <a:cs typeface="Nunito"/>
                <a:sym typeface="Nunito"/>
              </a:rPr>
              <a:t>Step 3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4704588" y="3360420"/>
            <a:ext cx="168021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i="1" lang="en" sz="8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[brief description]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6487668" y="3326130"/>
            <a:ext cx="2606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500"/>
              <a:buFont typeface="Calibri"/>
              <a:buNone/>
            </a:pPr>
            <a:r>
              <a:rPr b="1" lang="en" sz="1500">
                <a:solidFill>
                  <a:srgbClr val="6B757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6748272" y="2914650"/>
            <a:ext cx="1885950" cy="1303020"/>
          </a:xfrm>
          <a:prstGeom prst="roundRect">
            <a:avLst>
              <a:gd fmla="val 4211" name="adj"/>
            </a:avLst>
          </a:prstGeom>
          <a:solidFill>
            <a:srgbClr val="FDECEB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6748272" y="3051810"/>
            <a:ext cx="18859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23"/>
                </a:solidFill>
                <a:latin typeface="Nunito"/>
                <a:ea typeface="Nunito"/>
                <a:cs typeface="Nunito"/>
                <a:sym typeface="Nunito"/>
              </a:rPr>
              <a:t>Step 4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6851142" y="3360420"/>
            <a:ext cx="168021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i="1" lang="en" sz="8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[brief description]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610" y="240030"/>
            <a:ext cx="1062990" cy="435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38" name="Google Shape;13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07717" y="4709899"/>
            <a:ext cx="4526280" cy="28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/>
          <p:nvPr/>
        </p:nvSpPr>
        <p:spPr>
          <a:xfrm>
            <a:off x="8362061" y="240025"/>
            <a:ext cx="45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028F35"/>
                </a:solidFill>
                <a:latin typeface="Google Sans"/>
                <a:ea typeface="Google Sans"/>
                <a:cs typeface="Google Sans"/>
                <a:sym typeface="Google Sans"/>
              </a:rPr>
              <a:t>04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6672824" y="548635"/>
            <a:ext cx="21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6B7573"/>
                </a:solidFill>
                <a:latin typeface="Google Sans"/>
                <a:ea typeface="Google Sans"/>
                <a:cs typeface="Google Sans"/>
                <a:sym typeface="Google Sans"/>
              </a:rPr>
              <a:t>MARKET</a:t>
            </a:r>
            <a:endParaRPr sz="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308610" y="1062990"/>
            <a:ext cx="65151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23"/>
                </a:solidFill>
                <a:latin typeface="Google Sans"/>
                <a:ea typeface="Google Sans"/>
                <a:cs typeface="Google Sans"/>
                <a:sym typeface="Google Sans"/>
              </a:rPr>
              <a:t>Market Opportunity</a:t>
            </a:r>
            <a:endParaRPr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308610" y="1591056"/>
            <a:ext cx="67208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28F35"/>
                </a:solidFill>
                <a:latin typeface="Google Sans"/>
                <a:ea typeface="Google Sans"/>
                <a:cs typeface="Google Sans"/>
                <a:sym typeface="Google Sans"/>
              </a:rPr>
              <a:t>Size the opportunity: TAM, SAM, SOM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308610" y="1954530"/>
            <a:ext cx="44577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Replace with your figures ($M)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4" name="Google Shape;14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8610" y="2194560"/>
            <a:ext cx="445770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/>
          <p:nvPr/>
        </p:nvSpPr>
        <p:spPr>
          <a:xfrm>
            <a:off x="4972050" y="1954530"/>
            <a:ext cx="3840480" cy="2571750"/>
          </a:xfrm>
          <a:prstGeom prst="roundRect">
            <a:avLst>
              <a:gd fmla="val 2133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5143500" y="2091690"/>
            <a:ext cx="3497580" cy="22974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• Total Addressable Market (TAM): who could ever use this?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• Serviceable Available Market (SAM): who can you realistically reach?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• Serviceable Obtainable Market (SOM): what will you capture in 3 years?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• Cite a credible source for each figure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52" name="Google Shape;15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610" y="240030"/>
            <a:ext cx="1062990" cy="435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png" id="153" name="Google Shape;153;p20"/>
          <p:cNvPicPr preferRelativeResize="0"/>
          <p:nvPr/>
        </p:nvPicPr>
        <p:blipFill rotWithShape="1">
          <a:blip r:embed="rId4">
            <a:alphaModFix amt="22000"/>
          </a:blip>
          <a:srcRect b="0" l="0" r="0" t="0"/>
          <a:stretch/>
        </p:blipFill>
        <p:spPr>
          <a:xfrm>
            <a:off x="2719197" y="1559364"/>
            <a:ext cx="3703320" cy="223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54" name="Google Shape;15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07717" y="4709899"/>
            <a:ext cx="4526280" cy="28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/>
          <p:nvPr/>
        </p:nvSpPr>
        <p:spPr>
          <a:xfrm>
            <a:off x="8215884" y="240030"/>
            <a:ext cx="4114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028F35"/>
                </a:solidFill>
                <a:latin typeface="Google Sans"/>
                <a:ea typeface="Google Sans"/>
                <a:cs typeface="Google Sans"/>
                <a:sym typeface="Google Sans"/>
              </a:rPr>
              <a:t>05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6672834" y="548640"/>
            <a:ext cx="19545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6B7573"/>
                </a:solidFill>
                <a:latin typeface="Google Sans"/>
                <a:ea typeface="Google Sans"/>
                <a:cs typeface="Google Sans"/>
                <a:sym typeface="Google Sans"/>
              </a:rPr>
              <a:t>BUSINESS MODEL</a:t>
            </a:r>
            <a:endParaRPr sz="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308610" y="1062990"/>
            <a:ext cx="65151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23"/>
                </a:solidFill>
                <a:latin typeface="Google Sans"/>
                <a:ea typeface="Google Sans"/>
                <a:cs typeface="Google Sans"/>
                <a:sym typeface="Google Sans"/>
              </a:rPr>
              <a:t>Business Model</a:t>
            </a:r>
            <a:endParaRPr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308610" y="1591056"/>
            <a:ext cx="67208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28F35"/>
                </a:solidFill>
                <a:latin typeface="Nunito"/>
                <a:ea typeface="Nunito"/>
                <a:cs typeface="Nunito"/>
                <a:sym typeface="Nunito"/>
              </a:rPr>
              <a:t>How do you make money?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308610" y="1988820"/>
            <a:ext cx="2743200" cy="377190"/>
          </a:xfrm>
          <a:prstGeom prst="roundRect">
            <a:avLst>
              <a:gd fmla="val 10909" name="adj"/>
            </a:avLst>
          </a:prstGeom>
          <a:solidFill>
            <a:srgbClr val="E4181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308610" y="1988820"/>
            <a:ext cx="27432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Revenue Streams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308610" y="2434590"/>
            <a:ext cx="2743200" cy="1714500"/>
          </a:xfrm>
          <a:prstGeom prst="roundRect">
            <a:avLst>
              <a:gd fmla="val 32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480060" y="2571750"/>
            <a:ext cx="24003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Subscription, transaction fee, B2B licensing, grants, etc.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3223260" y="1988820"/>
            <a:ext cx="2743200" cy="377190"/>
          </a:xfrm>
          <a:prstGeom prst="roundRect">
            <a:avLst>
              <a:gd fmla="val 10909" name="adj"/>
            </a:avLst>
          </a:prstGeom>
          <a:solidFill>
            <a:srgbClr val="E4181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3223260" y="1988820"/>
            <a:ext cx="27432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Pricing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3223260" y="2434590"/>
            <a:ext cx="2743200" cy="1714500"/>
          </a:xfrm>
          <a:prstGeom prst="roundRect">
            <a:avLst>
              <a:gd fmla="val 32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3394710" y="2571750"/>
            <a:ext cx="24003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What do customers pay, and how did you validate the price point?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6137910" y="1988820"/>
            <a:ext cx="2743200" cy="377190"/>
          </a:xfrm>
          <a:prstGeom prst="roundRect">
            <a:avLst>
              <a:gd fmla="val 10909" name="adj"/>
            </a:avLst>
          </a:prstGeom>
          <a:solidFill>
            <a:srgbClr val="E4181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6137910" y="1988820"/>
            <a:ext cx="27432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Unit Economics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6137910" y="2434590"/>
            <a:ext cx="2743200" cy="1714500"/>
          </a:xfrm>
          <a:prstGeom prst="roundRect">
            <a:avLst>
              <a:gd fmla="val 32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6309360" y="2571750"/>
            <a:ext cx="24003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Customer acquisition cost, lifetime value, margin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76" name="Google Shape;1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610" y="240030"/>
            <a:ext cx="1062990" cy="435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png" id="177" name="Google Shape;177;p21"/>
          <p:cNvPicPr preferRelativeResize="0"/>
          <p:nvPr/>
        </p:nvPicPr>
        <p:blipFill rotWithShape="1">
          <a:blip r:embed="rId4">
            <a:alphaModFix amt="22000"/>
          </a:blip>
          <a:srcRect b="0" l="0" r="0" t="0"/>
          <a:stretch/>
        </p:blipFill>
        <p:spPr>
          <a:xfrm>
            <a:off x="2719197" y="1559364"/>
            <a:ext cx="3703320" cy="223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78" name="Google Shape;17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07717" y="4709899"/>
            <a:ext cx="4526280" cy="28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/>
          <p:nvPr/>
        </p:nvSpPr>
        <p:spPr>
          <a:xfrm>
            <a:off x="8215884" y="240030"/>
            <a:ext cx="4114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028F35"/>
                </a:solidFill>
                <a:latin typeface="Google Sans"/>
                <a:ea typeface="Google Sans"/>
                <a:cs typeface="Google Sans"/>
                <a:sym typeface="Google Sans"/>
              </a:rPr>
              <a:t>06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6672834" y="548640"/>
            <a:ext cx="19545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6B7573"/>
                </a:solidFill>
                <a:latin typeface="Google Sans"/>
                <a:ea typeface="Google Sans"/>
                <a:cs typeface="Google Sans"/>
                <a:sym typeface="Google Sans"/>
              </a:rPr>
              <a:t>TRACTION</a:t>
            </a:r>
            <a:endParaRPr sz="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308610" y="1062990"/>
            <a:ext cx="65151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23"/>
                </a:solidFill>
                <a:latin typeface="Google Sans"/>
                <a:ea typeface="Google Sans"/>
                <a:cs typeface="Google Sans"/>
                <a:sym typeface="Google Sans"/>
              </a:rPr>
              <a:t>Traction &amp; Validation</a:t>
            </a:r>
            <a:endParaRPr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308610" y="1591056"/>
            <a:ext cx="67208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28F35"/>
                </a:solidFill>
                <a:latin typeface="Google Sans"/>
                <a:ea typeface="Google Sans"/>
                <a:cs typeface="Google Sans"/>
                <a:sym typeface="Google Sans"/>
              </a:rPr>
              <a:t>Proof that this is working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308610" y="2023110"/>
            <a:ext cx="4080510" cy="1097280"/>
          </a:xfrm>
          <a:prstGeom prst="roundRect">
            <a:avLst>
              <a:gd fmla="val 50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514350" y="2146554"/>
            <a:ext cx="1371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28F35"/>
                </a:solidFill>
                <a:latin typeface="Nunito"/>
                <a:ea typeface="Nunito"/>
                <a:cs typeface="Nunito"/>
                <a:sym typeface="Nunito"/>
              </a:rPr>
              <a:t>[ number ]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514350" y="2674620"/>
            <a:ext cx="37033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900"/>
              <a:buFont typeface="Arial"/>
              <a:buNone/>
            </a:pPr>
            <a:r>
              <a:rPr lang="en" sz="900">
                <a:solidFill>
                  <a:srgbClr val="1F2323"/>
                </a:solidFill>
                <a:latin typeface="Nunito"/>
                <a:ea typeface="Nunito"/>
                <a:cs typeface="Nunito"/>
                <a:sym typeface="Nunito"/>
              </a:rPr>
              <a:t>Users / Patients Reached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4594860" y="2023110"/>
            <a:ext cx="4080510" cy="1097280"/>
          </a:xfrm>
          <a:prstGeom prst="roundRect">
            <a:avLst>
              <a:gd fmla="val 50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"/>
          <p:cNvSpPr/>
          <p:nvPr/>
        </p:nvSpPr>
        <p:spPr>
          <a:xfrm>
            <a:off x="4800600" y="2146554"/>
            <a:ext cx="1371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28F35"/>
                </a:solidFill>
                <a:latin typeface="Nunito"/>
                <a:ea typeface="Nunito"/>
                <a:cs typeface="Nunito"/>
                <a:sym typeface="Nunito"/>
              </a:rPr>
              <a:t>[ number ]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4800600" y="2674620"/>
            <a:ext cx="37033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900"/>
              <a:buFont typeface="Arial"/>
              <a:buNone/>
            </a:pPr>
            <a:r>
              <a:rPr lang="en" sz="900">
                <a:solidFill>
                  <a:srgbClr val="1F2323"/>
                </a:solidFill>
                <a:latin typeface="Nunito"/>
                <a:ea typeface="Nunito"/>
                <a:cs typeface="Nunito"/>
                <a:sym typeface="Nunito"/>
              </a:rPr>
              <a:t>Pilot Partners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308610" y="3291840"/>
            <a:ext cx="4080510" cy="1097280"/>
          </a:xfrm>
          <a:prstGeom prst="roundRect">
            <a:avLst>
              <a:gd fmla="val 50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514350" y="3415284"/>
            <a:ext cx="1371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28F35"/>
                </a:solidFill>
                <a:latin typeface="Nunito"/>
                <a:ea typeface="Nunito"/>
                <a:cs typeface="Nunito"/>
                <a:sym typeface="Nunito"/>
              </a:rPr>
              <a:t>[ number ]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514350" y="3943350"/>
            <a:ext cx="37033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900"/>
              <a:buFont typeface="Arial"/>
              <a:buNone/>
            </a:pPr>
            <a:r>
              <a:rPr lang="en" sz="900">
                <a:solidFill>
                  <a:srgbClr val="1F2323"/>
                </a:solidFill>
                <a:latin typeface="Nunito"/>
                <a:ea typeface="Nunito"/>
                <a:cs typeface="Nunito"/>
                <a:sym typeface="Nunito"/>
              </a:rPr>
              <a:t>Revenue / Funding Raised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4594860" y="3291840"/>
            <a:ext cx="4080510" cy="1097280"/>
          </a:xfrm>
          <a:prstGeom prst="roundRect">
            <a:avLst>
              <a:gd fmla="val 50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4800600" y="3415284"/>
            <a:ext cx="1371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28F35"/>
                </a:solidFill>
                <a:latin typeface="Nunito"/>
                <a:ea typeface="Nunito"/>
                <a:cs typeface="Nunito"/>
                <a:sym typeface="Nunito"/>
              </a:rPr>
              <a:t>[ number ]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4800600" y="3943350"/>
            <a:ext cx="37033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900"/>
              <a:buFont typeface="Arial"/>
              <a:buNone/>
            </a:pPr>
            <a:r>
              <a:rPr lang="en" sz="900">
                <a:solidFill>
                  <a:srgbClr val="1F2323"/>
                </a:solidFill>
                <a:latin typeface="Nunito"/>
                <a:ea typeface="Nunito"/>
                <a:cs typeface="Nunito"/>
                <a:sym typeface="Nunito"/>
              </a:rPr>
              <a:t>Key Milestone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200" name="Google Shape;2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610" y="240030"/>
            <a:ext cx="1062990" cy="435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01" name="Google Shape;20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8910" y="39602"/>
            <a:ext cx="4526280" cy="28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/>
          <p:nvPr/>
        </p:nvSpPr>
        <p:spPr>
          <a:xfrm>
            <a:off x="8215884" y="240030"/>
            <a:ext cx="4114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028F35"/>
                </a:solidFill>
                <a:latin typeface="Google Sans"/>
                <a:ea typeface="Google Sans"/>
                <a:cs typeface="Google Sans"/>
                <a:sym typeface="Google Sans"/>
              </a:rPr>
              <a:t>07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6672834" y="548640"/>
            <a:ext cx="19545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6B7573"/>
                </a:solidFill>
                <a:latin typeface="Google Sans"/>
                <a:ea typeface="Google Sans"/>
                <a:cs typeface="Google Sans"/>
                <a:sym typeface="Google Sans"/>
              </a:rPr>
              <a:t>COMPETITION</a:t>
            </a:r>
            <a:endParaRPr sz="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308610" y="1062990"/>
            <a:ext cx="65151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23"/>
                </a:solidFill>
                <a:latin typeface="Google Sans"/>
                <a:ea typeface="Google Sans"/>
                <a:cs typeface="Google Sans"/>
                <a:sym typeface="Google Sans"/>
              </a:rPr>
              <a:t>Competitive Landscape</a:t>
            </a:r>
            <a:endParaRPr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308610" y="1591056"/>
            <a:ext cx="67208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28F35"/>
                </a:solidFill>
                <a:latin typeface="Google Sans"/>
                <a:ea typeface="Google Sans"/>
                <a:cs typeface="Google Sans"/>
                <a:sym typeface="Google Sans"/>
              </a:rPr>
              <a:t>Where you sit versus alternatives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206" name="Google Shape;206;p22"/>
          <p:cNvCxnSpPr/>
          <p:nvPr/>
        </p:nvCxnSpPr>
        <p:spPr>
          <a:xfrm>
            <a:off x="857250" y="2571750"/>
            <a:ext cx="5212080" cy="0"/>
          </a:xfrm>
          <a:prstGeom prst="straightConnector1">
            <a:avLst/>
          </a:prstGeom>
          <a:noFill/>
          <a:ln cap="flat" cmpd="sng" w="1905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22"/>
          <p:cNvCxnSpPr/>
          <p:nvPr/>
        </p:nvCxnSpPr>
        <p:spPr>
          <a:xfrm>
            <a:off x="3223260" y="1988820"/>
            <a:ext cx="0" cy="2743200"/>
          </a:xfrm>
          <a:prstGeom prst="straightConnector1">
            <a:avLst/>
          </a:prstGeom>
          <a:noFill/>
          <a:ln cap="flat" cmpd="sng" w="1905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22"/>
          <p:cNvSpPr/>
          <p:nvPr/>
        </p:nvSpPr>
        <p:spPr>
          <a:xfrm>
            <a:off x="548640" y="1714500"/>
            <a:ext cx="53492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i="1" lang="en" sz="8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[ Axis 2 — e.g. Affordability → ]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548640" y="4786884"/>
            <a:ext cx="53492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i="1" lang="en" sz="800">
                <a:solidFill>
                  <a:srgbClr val="6B7573"/>
                </a:solidFill>
                <a:latin typeface="Arial"/>
                <a:ea typeface="Arial"/>
                <a:cs typeface="Arial"/>
                <a:sym typeface="Arial"/>
              </a:rPr>
              <a:t>[ Axis 1 — e.g. Reach ↑ ]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2846070" y="2983230"/>
            <a:ext cx="754380" cy="754380"/>
          </a:xfrm>
          <a:prstGeom prst="ellipse">
            <a:avLst/>
          </a:prstGeom>
          <a:solidFill>
            <a:srgbClr val="028F35">
              <a:alpha val="85098"/>
            </a:srgbClr>
          </a:solidFill>
          <a:ln cap="flat" cmpd="sng" w="19050">
            <a:solidFill>
              <a:srgbClr val="028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2846070" y="3257550"/>
            <a:ext cx="7543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You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1508760" y="2674620"/>
            <a:ext cx="514350" cy="514350"/>
          </a:xfrm>
          <a:prstGeom prst="ellipse">
            <a:avLst/>
          </a:prstGeom>
          <a:solidFill>
            <a:srgbClr val="6B7573">
              <a:alpha val="70196"/>
            </a:srgbClr>
          </a:solidFill>
          <a:ln cap="flat" cmpd="sng" w="12700">
            <a:solidFill>
              <a:srgbClr val="6B75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1303020" y="3209544"/>
            <a:ext cx="9258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700"/>
              <a:buFont typeface="Arial"/>
              <a:buNone/>
            </a:pPr>
            <a:r>
              <a:rPr lang="en" sz="7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Comp. A</a:t>
            </a:r>
            <a:endParaRPr sz="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4457700" y="3840480"/>
            <a:ext cx="514350" cy="514350"/>
          </a:xfrm>
          <a:prstGeom prst="ellipse">
            <a:avLst/>
          </a:prstGeom>
          <a:solidFill>
            <a:srgbClr val="6B7573">
              <a:alpha val="70196"/>
            </a:srgbClr>
          </a:solidFill>
          <a:ln cap="flat" cmpd="sng" w="12700">
            <a:solidFill>
              <a:srgbClr val="6B75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4251960" y="4375404"/>
            <a:ext cx="9258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700"/>
              <a:buFont typeface="Arial"/>
              <a:buNone/>
            </a:pPr>
            <a:r>
              <a:rPr lang="en" sz="7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Comp. B</a:t>
            </a:r>
            <a:endParaRPr sz="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2674620" y="4251960"/>
            <a:ext cx="514350" cy="514350"/>
          </a:xfrm>
          <a:prstGeom prst="ellipse">
            <a:avLst/>
          </a:prstGeom>
          <a:solidFill>
            <a:srgbClr val="6B7573">
              <a:alpha val="70196"/>
            </a:srgbClr>
          </a:solidFill>
          <a:ln cap="flat" cmpd="sng" w="12700">
            <a:solidFill>
              <a:srgbClr val="6B75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2468880" y="4786884"/>
            <a:ext cx="9258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700"/>
              <a:buFont typeface="Arial"/>
              <a:buNone/>
            </a:pPr>
            <a:r>
              <a:rPr lang="en" sz="7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Comp. C</a:t>
            </a:r>
            <a:endParaRPr sz="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6069330" y="1988820"/>
            <a:ext cx="2743200" cy="2743200"/>
          </a:xfrm>
          <a:prstGeom prst="roundRect">
            <a:avLst>
              <a:gd fmla="val 20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6240780" y="2125980"/>
            <a:ext cx="24003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6B7573"/>
                </a:solidFill>
                <a:latin typeface="Arial"/>
                <a:ea typeface="Arial"/>
                <a:cs typeface="Arial"/>
                <a:sym typeface="Arial"/>
              </a:rPr>
              <a:t>• Label both axes with the dimensions that matter most to buyers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6B7573"/>
                </a:solidFill>
                <a:latin typeface="Arial"/>
                <a:ea typeface="Arial"/>
                <a:cs typeface="Arial"/>
                <a:sym typeface="Arial"/>
              </a:rPr>
              <a:t>• Plot 2–4 real competitors or alternatives (including "do nothing")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6B7573"/>
                </a:solidFill>
                <a:latin typeface="Arial"/>
                <a:ea typeface="Arial"/>
                <a:cs typeface="Arial"/>
                <a:sym typeface="Arial"/>
              </a:rPr>
              <a:t>• State your defensible advantage in one line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610" y="240030"/>
            <a:ext cx="1062990" cy="435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png" id="226" name="Google Shape;226;p23"/>
          <p:cNvPicPr preferRelativeResize="0"/>
          <p:nvPr/>
        </p:nvPicPr>
        <p:blipFill rotWithShape="1">
          <a:blip r:embed="rId4">
            <a:alphaModFix amt="22000"/>
          </a:blip>
          <a:srcRect b="0" l="0" r="0" t="0"/>
          <a:stretch/>
        </p:blipFill>
        <p:spPr>
          <a:xfrm>
            <a:off x="2719197" y="1559364"/>
            <a:ext cx="3703320" cy="223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27" name="Google Shape;22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07717" y="4709899"/>
            <a:ext cx="4526280" cy="28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8350949" y="240025"/>
            <a:ext cx="44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028F35"/>
                </a:solidFill>
                <a:latin typeface="Google Sans"/>
                <a:ea typeface="Google Sans"/>
                <a:cs typeface="Google Sans"/>
                <a:sym typeface="Google Sans"/>
              </a:rPr>
              <a:t>08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6672824" y="548635"/>
            <a:ext cx="212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6B7573"/>
                </a:solidFill>
                <a:latin typeface="Google Sans"/>
                <a:ea typeface="Google Sans"/>
                <a:cs typeface="Google Sans"/>
                <a:sym typeface="Google Sans"/>
              </a:rPr>
              <a:t>GO-TO-MARKET</a:t>
            </a:r>
            <a:endParaRPr sz="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308610" y="1062990"/>
            <a:ext cx="65151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23"/>
                </a:solidFill>
                <a:latin typeface="Google Sans"/>
                <a:ea typeface="Google Sans"/>
                <a:cs typeface="Google Sans"/>
                <a:sym typeface="Google Sans"/>
              </a:rPr>
              <a:t>Go-To-Market Strategy</a:t>
            </a:r>
            <a:endParaRPr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308610" y="1591056"/>
            <a:ext cx="67208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28F35"/>
                </a:solidFill>
                <a:latin typeface="Google Sans"/>
                <a:ea typeface="Google Sans"/>
                <a:cs typeface="Google Sans"/>
                <a:sym typeface="Google Sans"/>
              </a:rPr>
              <a:t>How you'll acquire and scale users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308610" y="1988820"/>
            <a:ext cx="2743200" cy="377190"/>
          </a:xfrm>
          <a:prstGeom prst="roundRect">
            <a:avLst>
              <a:gd fmla="val 10909" name="adj"/>
            </a:avLst>
          </a:prstGeom>
          <a:solidFill>
            <a:srgbClr val="028F3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308610" y="1988820"/>
            <a:ext cx="27432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Phase 1 — Launch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308610" y="2434590"/>
            <a:ext cx="2743200" cy="1714500"/>
          </a:xfrm>
          <a:prstGeom prst="roundRect">
            <a:avLst>
              <a:gd fmla="val 32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480060" y="2571750"/>
            <a:ext cx="24003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Initial geography, channel, and target customer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3223260" y="1988820"/>
            <a:ext cx="2743200" cy="377190"/>
          </a:xfrm>
          <a:prstGeom prst="roundRect">
            <a:avLst>
              <a:gd fmla="val 10909" name="adj"/>
            </a:avLst>
          </a:prstGeom>
          <a:solidFill>
            <a:srgbClr val="028F3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3223260" y="1988820"/>
            <a:ext cx="27432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Phase 2 — Scale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3223260" y="2434590"/>
            <a:ext cx="2743200" cy="1714500"/>
          </a:xfrm>
          <a:prstGeom prst="roundRect">
            <a:avLst>
              <a:gd fmla="val 32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3394710" y="2571750"/>
            <a:ext cx="24003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Expansion plan and key partnerships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6137910" y="1988820"/>
            <a:ext cx="2743200" cy="377190"/>
          </a:xfrm>
          <a:prstGeom prst="roundRect">
            <a:avLst>
              <a:gd fmla="val 10909" name="adj"/>
            </a:avLst>
          </a:prstGeom>
          <a:solidFill>
            <a:srgbClr val="028F3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6137910" y="1988820"/>
            <a:ext cx="27432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Phase 3 — Sustain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6137910" y="2434590"/>
            <a:ext cx="2743200" cy="1714500"/>
          </a:xfrm>
          <a:prstGeom prst="roundRect">
            <a:avLst>
              <a:gd fmla="val 32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6309360" y="2571750"/>
            <a:ext cx="24003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Path to regional or continental scale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249" name="Google Shape;2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610" y="240030"/>
            <a:ext cx="1062990" cy="435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50" name="Google Shape;25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07717" y="4709899"/>
            <a:ext cx="4526280" cy="28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/>
          <p:nvPr/>
        </p:nvSpPr>
        <p:spPr>
          <a:xfrm>
            <a:off x="8215884" y="240030"/>
            <a:ext cx="4114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028F35"/>
                </a:solidFill>
                <a:latin typeface="Google Sans"/>
                <a:ea typeface="Google Sans"/>
                <a:cs typeface="Google Sans"/>
                <a:sym typeface="Google Sans"/>
              </a:rPr>
              <a:t>09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6672834" y="548640"/>
            <a:ext cx="19545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6B7573"/>
                </a:solidFill>
                <a:latin typeface="Google Sans"/>
                <a:ea typeface="Google Sans"/>
                <a:cs typeface="Google Sans"/>
                <a:sym typeface="Google Sans"/>
              </a:rPr>
              <a:t>THE TEAM</a:t>
            </a:r>
            <a:endParaRPr sz="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308610" y="1062990"/>
            <a:ext cx="65151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23"/>
                </a:solidFill>
                <a:latin typeface="Google Sans"/>
                <a:ea typeface="Google Sans"/>
                <a:cs typeface="Google Sans"/>
                <a:sym typeface="Google Sans"/>
              </a:rPr>
              <a:t>Team</a:t>
            </a:r>
            <a:endParaRPr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308610" y="1591056"/>
            <a:ext cx="67208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28F35"/>
                </a:solidFill>
                <a:latin typeface="Google Sans"/>
                <a:ea typeface="Google Sans"/>
                <a:cs typeface="Google Sans"/>
                <a:sym typeface="Google Sans"/>
              </a:rPr>
              <a:t>Why you're the right team to solve this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960120" y="2023110"/>
            <a:ext cx="788670" cy="788670"/>
          </a:xfrm>
          <a:prstGeom prst="ellipse">
            <a:avLst/>
          </a:prstGeom>
          <a:solidFill>
            <a:srgbClr val="F0F2F1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4"/>
          <p:cNvSpPr/>
          <p:nvPr/>
        </p:nvSpPr>
        <p:spPr>
          <a:xfrm>
            <a:off x="960120" y="2297430"/>
            <a:ext cx="7886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700"/>
              <a:buFont typeface="Arial"/>
              <a:buNone/>
            </a:pPr>
            <a:r>
              <a:rPr i="1" lang="en" sz="700">
                <a:solidFill>
                  <a:srgbClr val="6B7573"/>
                </a:solidFill>
                <a:latin typeface="Arial"/>
                <a:ea typeface="Arial"/>
                <a:cs typeface="Arial"/>
                <a:sym typeface="Arial"/>
              </a:rPr>
              <a:t>[ photo ]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308610" y="2948940"/>
            <a:ext cx="209169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23"/>
                </a:solidFill>
                <a:latin typeface="Nunito"/>
                <a:ea typeface="Nunito"/>
                <a:cs typeface="Nunito"/>
                <a:sym typeface="Nunito"/>
              </a:rPr>
              <a:t>[ Name ]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308610" y="3188970"/>
            <a:ext cx="209169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028F35"/>
                </a:solidFill>
                <a:latin typeface="Nunito"/>
                <a:ea typeface="Nunito"/>
                <a:cs typeface="Nunito"/>
                <a:sym typeface="Nunito"/>
              </a:rPr>
              <a:t>[ Role ]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411480" y="3429000"/>
            <a:ext cx="18859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700"/>
              <a:buFont typeface="Arial"/>
              <a:buNone/>
            </a:pPr>
            <a:r>
              <a:rPr i="1" lang="en" sz="7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[ One line on relevant background or expertise ]</a:t>
            </a:r>
            <a:endParaRPr sz="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3106674" y="2023110"/>
            <a:ext cx="788670" cy="788670"/>
          </a:xfrm>
          <a:prstGeom prst="ellipse">
            <a:avLst/>
          </a:prstGeom>
          <a:solidFill>
            <a:srgbClr val="F0F2F1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4"/>
          <p:cNvSpPr/>
          <p:nvPr/>
        </p:nvSpPr>
        <p:spPr>
          <a:xfrm>
            <a:off x="3106674" y="2297430"/>
            <a:ext cx="7886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700"/>
              <a:buFont typeface="Arial"/>
              <a:buNone/>
            </a:pPr>
            <a:r>
              <a:rPr i="1" lang="en" sz="700">
                <a:solidFill>
                  <a:srgbClr val="6B7573"/>
                </a:solidFill>
                <a:latin typeface="Arial"/>
                <a:ea typeface="Arial"/>
                <a:cs typeface="Arial"/>
                <a:sym typeface="Arial"/>
              </a:rPr>
              <a:t>[ photo ]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2455164" y="2948940"/>
            <a:ext cx="209169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23"/>
                </a:solidFill>
                <a:latin typeface="Nunito"/>
                <a:ea typeface="Nunito"/>
                <a:cs typeface="Nunito"/>
                <a:sym typeface="Nunito"/>
              </a:rPr>
              <a:t>[ Name ]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2455164" y="3188970"/>
            <a:ext cx="209169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028F35"/>
                </a:solidFill>
                <a:latin typeface="Nunito"/>
                <a:ea typeface="Nunito"/>
                <a:cs typeface="Nunito"/>
                <a:sym typeface="Nunito"/>
              </a:rPr>
              <a:t>[ Role ]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2558034" y="3429000"/>
            <a:ext cx="18859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700"/>
              <a:buFont typeface="Arial"/>
              <a:buNone/>
            </a:pPr>
            <a:r>
              <a:rPr i="1" lang="en" sz="7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[ One line on relevant background or expertise ]</a:t>
            </a:r>
            <a:endParaRPr sz="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5253228" y="2023110"/>
            <a:ext cx="788670" cy="788670"/>
          </a:xfrm>
          <a:prstGeom prst="ellipse">
            <a:avLst/>
          </a:prstGeom>
          <a:solidFill>
            <a:srgbClr val="F0F2F1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4"/>
          <p:cNvSpPr/>
          <p:nvPr/>
        </p:nvSpPr>
        <p:spPr>
          <a:xfrm>
            <a:off x="5253228" y="2297430"/>
            <a:ext cx="7886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700"/>
              <a:buFont typeface="Arial"/>
              <a:buNone/>
            </a:pPr>
            <a:r>
              <a:rPr i="1" lang="en" sz="700">
                <a:solidFill>
                  <a:srgbClr val="6B7573"/>
                </a:solidFill>
                <a:latin typeface="Arial"/>
                <a:ea typeface="Arial"/>
                <a:cs typeface="Arial"/>
                <a:sym typeface="Arial"/>
              </a:rPr>
              <a:t>[ photo ]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4601718" y="2948940"/>
            <a:ext cx="209169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23"/>
                </a:solidFill>
                <a:latin typeface="Nunito"/>
                <a:ea typeface="Nunito"/>
                <a:cs typeface="Nunito"/>
                <a:sym typeface="Nunito"/>
              </a:rPr>
              <a:t>[ Name ]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4601718" y="3188970"/>
            <a:ext cx="209169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028F35"/>
                </a:solidFill>
                <a:latin typeface="Nunito"/>
                <a:ea typeface="Nunito"/>
                <a:cs typeface="Nunito"/>
                <a:sym typeface="Nunito"/>
              </a:rPr>
              <a:t>[ Role ]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4704588" y="3429000"/>
            <a:ext cx="18859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700"/>
              <a:buFont typeface="Arial"/>
              <a:buNone/>
            </a:pPr>
            <a:r>
              <a:rPr i="1" lang="en" sz="7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[ One line on relevant background or expertise ]</a:t>
            </a:r>
            <a:endParaRPr sz="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7399782" y="2023110"/>
            <a:ext cx="788670" cy="788670"/>
          </a:xfrm>
          <a:prstGeom prst="ellipse">
            <a:avLst/>
          </a:prstGeom>
          <a:solidFill>
            <a:srgbClr val="F0F2F1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4"/>
          <p:cNvSpPr/>
          <p:nvPr/>
        </p:nvSpPr>
        <p:spPr>
          <a:xfrm>
            <a:off x="7399782" y="2297430"/>
            <a:ext cx="7886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700"/>
              <a:buFont typeface="Arial"/>
              <a:buNone/>
            </a:pPr>
            <a:r>
              <a:rPr i="1" lang="en" sz="700">
                <a:solidFill>
                  <a:srgbClr val="6B7573"/>
                </a:solidFill>
                <a:latin typeface="Arial"/>
                <a:ea typeface="Arial"/>
                <a:cs typeface="Arial"/>
                <a:sym typeface="Arial"/>
              </a:rPr>
              <a:t>[ photo ]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6748272" y="2948940"/>
            <a:ext cx="209169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F2323"/>
                </a:solidFill>
                <a:latin typeface="Nunito"/>
                <a:ea typeface="Nunito"/>
                <a:cs typeface="Nunito"/>
                <a:sym typeface="Nunito"/>
              </a:rPr>
              <a:t>[ Name ]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6748272" y="3188970"/>
            <a:ext cx="209169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028F35"/>
                </a:solidFill>
                <a:latin typeface="Nunito"/>
                <a:ea typeface="Nunito"/>
                <a:cs typeface="Nunito"/>
                <a:sym typeface="Nunito"/>
              </a:rPr>
              <a:t>[ Role ]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6851142" y="3429000"/>
            <a:ext cx="18859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700"/>
              <a:buFont typeface="Arial"/>
              <a:buNone/>
            </a:pPr>
            <a:r>
              <a:rPr i="1" lang="en" sz="7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[ One line on relevant background or expertise ]</a:t>
            </a:r>
            <a:endParaRPr sz="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280" name="Google Shape;28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610" y="240030"/>
            <a:ext cx="1062990" cy="435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png" id="281" name="Google Shape;281;p25"/>
          <p:cNvPicPr preferRelativeResize="0"/>
          <p:nvPr/>
        </p:nvPicPr>
        <p:blipFill rotWithShape="1">
          <a:blip r:embed="rId4">
            <a:alphaModFix amt="22000"/>
          </a:blip>
          <a:srcRect b="0" l="0" r="0" t="0"/>
          <a:stretch/>
        </p:blipFill>
        <p:spPr>
          <a:xfrm>
            <a:off x="2719197" y="1559364"/>
            <a:ext cx="3703320" cy="223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82" name="Google Shape;28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07717" y="4709899"/>
            <a:ext cx="4526280" cy="28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/>
          <p:nvPr/>
        </p:nvSpPr>
        <p:spPr>
          <a:xfrm>
            <a:off x="8215884" y="240030"/>
            <a:ext cx="4114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028F35"/>
                </a:solidFill>
                <a:latin typeface="Google Sans"/>
                <a:ea typeface="Google Sans"/>
                <a:cs typeface="Google Sans"/>
                <a:sym typeface="Google Sans"/>
              </a:rPr>
              <a:t>10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6672834" y="548640"/>
            <a:ext cx="19545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6B7573"/>
                </a:solidFill>
                <a:latin typeface="Google Sans"/>
                <a:ea typeface="Google Sans"/>
                <a:cs typeface="Google Sans"/>
                <a:sym typeface="Google Sans"/>
              </a:rPr>
              <a:t>THE ASK</a:t>
            </a:r>
            <a:endParaRPr sz="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308610" y="1062990"/>
            <a:ext cx="65151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F2323"/>
                </a:solidFill>
                <a:latin typeface="Google Sans"/>
                <a:ea typeface="Google Sans"/>
                <a:cs typeface="Google Sans"/>
                <a:sym typeface="Google Sans"/>
              </a:rPr>
              <a:t>Financials &amp; The Ask</a:t>
            </a:r>
            <a:endParaRPr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308610" y="1591056"/>
            <a:ext cx="67208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28F35"/>
                </a:solidFill>
                <a:latin typeface="Google Sans"/>
                <a:ea typeface="Google Sans"/>
                <a:cs typeface="Google Sans"/>
                <a:sym typeface="Google Sans"/>
              </a:rPr>
              <a:t>What you need, and what it enables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308610" y="2023110"/>
            <a:ext cx="4046220" cy="2331720"/>
          </a:xfrm>
          <a:prstGeom prst="roundRect">
            <a:avLst>
              <a:gd fmla="val 2353" name="adj"/>
            </a:avLst>
          </a:prstGeom>
          <a:solidFill>
            <a:srgbClr val="EAF6EE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480060" y="2160270"/>
            <a:ext cx="370332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Funding / support requested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[ Insert amount and type — grant, equity,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in-kind support, mentorship, etc. ]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Use of funds: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• [ Category 1 — % ]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• [ Category 2 — % ]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• [ Category 3 — % ]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4491990" y="2023110"/>
            <a:ext cx="4320540" cy="2331720"/>
          </a:xfrm>
          <a:prstGeom prst="roundRect">
            <a:avLst>
              <a:gd fmla="val 2353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5"/>
          <p:cNvSpPr/>
          <p:nvPr/>
        </p:nvSpPr>
        <p:spPr>
          <a:xfrm>
            <a:off x="4663440" y="2160270"/>
            <a:ext cx="397764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12–24 month projection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Insert a simple revenue or impact-growth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chart (e.g. users served per quarter,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revenue per quarter). Keep it to one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headline metric investors or judges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>
                <a:solidFill>
                  <a:srgbClr val="6B7573"/>
                </a:solidFill>
                <a:latin typeface="Nunito"/>
                <a:ea typeface="Nunito"/>
                <a:cs typeface="Nunito"/>
                <a:sym typeface="Nunito"/>
              </a:rPr>
              <a:t>will remember.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