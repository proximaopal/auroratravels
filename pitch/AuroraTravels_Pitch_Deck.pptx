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embeddedFontLst>
    <p:embeddedFont>
      <p:font typeface="Nunito"/>
      <p:regular r:id="rId18"/>
      <p:bold r:id="rId19"/>
      <p:italic r:id="rId20"/>
      <p:boldItalic r:id="rId21"/>
    </p:embeddedFon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font" Target="fonts/Nunito-regular.fntdata"/><Relationship Id="rId19" Type="http://schemas.openxmlformats.org/officeDocument/2006/relationships/font" Target="fonts/Nunito-bold.fntdata"/><Relationship Id="rId20" Type="http://schemas.openxmlformats.org/officeDocument/2006/relationships/font" Target="fonts/Nunito-italic.fntdata"/><Relationship Id="rId21" Type="http://schemas.openxmlformats.org/officeDocument/2006/relationships/font" Target="fonts/Nunito-boldItalic.fntdata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56e95d58f_2_2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g3f56e95d58f_2_2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f56e95d58f_2_2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56e95d58f_2_13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5" name="Google Shape;65;g3f56e95d58f_2_13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g3f56e95d58f_2_13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56e95d58f_2_28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g3f56e95d58f_2_28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g3f56e95d58f_2_28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56e95d58f_2_51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" name="Google Shape;105;g3f56e95d58f_2_51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f56e95d58f_2_51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56e95d58f_2_79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g3f56e95d58f_2_79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f56e95d58f_2_79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56e95d58f_2_93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g3f56e95d58f_2_93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g3f56e95d58f_2_93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f56e95d58f_2_11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g3f56e95d58f_2_11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g3f56e95d58f_2_11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56e95d58f_2_139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g3f56e95d58f_2_139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3f56e95d58f_2_139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56e95d58f_2_163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g3f56e95d58f_2_163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g3f56e95d58f_2_163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56e95d58f_2_18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g3f56e95d58f_2_18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g3f56e95d58f_2_18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56e95d58f_2_216:notes"/>
          <p:cNvSpPr/>
          <p:nvPr>
            <p:ph idx="2" type="sldImg"/>
          </p:nvPr>
        </p:nvSpPr>
        <p:spPr>
          <a:xfrm>
            <a:off x="0" y="0"/>
            <a:ext cx="2250000" cy="225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7" name="Google Shape;277;g3f56e95d58f_2_216:notes"/>
          <p:cNvSpPr txBox="1"/>
          <p:nvPr>
            <p:ph idx="1" type="body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g3f56e95d58f_2_216:notes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4217670"/>
            <a:ext cx="9141714" cy="41148"/>
          </a:xfrm>
          <a:prstGeom prst="rect">
            <a:avLst/>
          </a:prstGeom>
          <a:solidFill>
            <a:srgbClr val="028F3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617220" y="1579533"/>
            <a:ext cx="788670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AURORA TRAVELS</a:t>
            </a:r>
            <a:endParaRPr i="0" sz="3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640080" y="2075642"/>
            <a:ext cx="7886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1813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E41813"/>
                </a:solidFill>
                <a:latin typeface="Google Sans"/>
                <a:ea typeface="Google Sans"/>
                <a:cs typeface="Google Sans"/>
                <a:sym typeface="Google Sans"/>
              </a:rPr>
              <a:t>Afrihealth Innovation Challenge 2026</a:t>
            </a:r>
            <a:endParaRPr i="0" sz="11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1645926" y="3134425"/>
            <a:ext cx="67803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b="1" i="1" lang="en" sz="1000" u="none" cap="none" strike="noStrike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A Kenya-native app for parks, stays, verified crafts and student guides — connecting travelers to artisans and university guides with M-Pesa checkout.</a:t>
            </a:r>
            <a:endParaRPr b="1" i="0" sz="1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t>Built in Nairobi by ProximaOpal · auroratravels</a:t>
            </a:r>
          </a:p>
        </p:txBody>
      </p:sp>
      <p:pic>
        <p:nvPicPr>
          <p:cNvPr descr="footer.png" id="61" name="Google Shape;6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00" y="4720636"/>
            <a:ext cx="4526280" cy="2827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png" id="62" name="Google Shape;6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68" name="Google Shape;6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watermark.png" id="69" name="Google Shape;69;p16"/>
          <p:cNvPicPr preferRelativeResize="0"/>
          <p:nvPr/>
        </p:nvPicPr>
        <p:blipFill rotWithShape="1">
          <a:blip r:embed="rId4">
            <a:alphaModFix amt="22000"/>
          </a:blip>
          <a:srcRect b="0" l="0" r="0" t="0"/>
          <a:stretch/>
        </p:blipFill>
        <p:spPr>
          <a:xfrm>
            <a:off x="2719197" y="1559364"/>
            <a:ext cx="3703320" cy="223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70" name="Google Shape;7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6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01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2" name="Google Shape;72;p16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THE PROBLEM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Problem Statement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Kenya’s travel experience is fragmented — and its creative economy is invisible online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308610" y="2023110"/>
            <a:ext cx="5212080" cy="2331720"/>
          </a:xfrm>
          <a:prstGeom prst="roundRect">
            <a:avLst>
              <a:gd fmla="val 2353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480060" y="2160270"/>
            <a:ext cx="486918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• International arrivals rose 9% YoY to 2.7M in 2025 (5.2M domestic; 7.9M total), yet travelers still stitch together separate tools for parks, stays, crafts and guides — mostly via commission-heavy foreign platforms.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>• Kenya’s informal / Jua Kali and MSE economy contributes an estimated 24–33% of GDP, but most craft artisans lack a verified digital storefront into tourist demand.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• Federation of Kenya Employers cites 67% unemployment among Kenyans aged 15–34 — deep local knowledge sits idle instead of being monetized as guiding.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5692140" y="2023110"/>
            <a:ext cx="3120390" cy="2331720"/>
          </a:xfrm>
          <a:prstGeom prst="roundRect">
            <a:avLst>
              <a:gd fmla="val 2353" name="adj"/>
            </a:avLst>
          </a:prstGeom>
          <a:solidFill>
            <a:srgbClr val="FDECEB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6"/>
          <p:cNvSpPr/>
          <p:nvPr/>
        </p:nvSpPr>
        <p:spPr>
          <a:xfrm>
            <a:off x="5863590" y="2160270"/>
            <a:ext cx="277749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Supporting data point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>67% — FKE figure for ages 15–34 without adequate employment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2.7M international arrivals in 2025 (+9% YoY)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KES ~0.5T (~US$3.8B) tourism earnings (Ministry / Magical Kenya 2025)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84" name="Google Shape;8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watermark.png" id="85" name="Google Shape;85;p17"/>
          <p:cNvPicPr preferRelativeResize="0"/>
          <p:nvPr/>
        </p:nvPicPr>
        <p:blipFill rotWithShape="1">
          <a:blip r:embed="rId4">
            <a:alphaModFix amt="22000"/>
          </a:blip>
          <a:srcRect b="0" l="0" r="0" t="0"/>
          <a:stretch/>
        </p:blipFill>
        <p:spPr>
          <a:xfrm>
            <a:off x="2719197" y="1559364"/>
            <a:ext cx="3703320" cy="223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86" name="Google Shape;8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02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THE SOLUTION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Your Solution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90" name="Google Shape;90;p17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One app: parks, stays, verified Kenyan crafts and student guides — paid by M-Pesa</a:t>
            </a:r>
            <a:endParaRPr sz="11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91" name="Google Shape;91;p17"/>
          <p:cNvSpPr/>
          <p:nvPr/>
        </p:nvSpPr>
        <p:spPr>
          <a:xfrm>
            <a:off x="30861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028F3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7"/>
          <p:cNvSpPr/>
          <p:nvPr/>
        </p:nvSpPr>
        <p:spPr>
          <a:xfrm>
            <a:off x="30861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What it is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3" name="Google Shape;93;p17"/>
          <p:cNvSpPr/>
          <p:nvPr/>
        </p:nvSpPr>
        <p:spPr>
          <a:xfrm>
            <a:off x="30861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7"/>
          <p:cNvSpPr/>
          <p:nvPr/>
        </p:nvSpPr>
        <p:spPr>
          <a:xfrm>
            <a:off x="48006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A single web experience from discovering Kenya’s parks to buying a named artisan craft and pairing with a vetted university guide — checked out with native M-Pesa STK Push.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5" name="Google Shape;95;p17"/>
          <p:cNvSpPr/>
          <p:nvPr/>
        </p:nvSpPr>
        <p:spPr>
          <a:xfrm>
            <a:off x="322326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028F3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7"/>
          <p:cNvSpPr/>
          <p:nvPr/>
        </p:nvSpPr>
        <p:spPr>
          <a:xfrm>
            <a:off x="322326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How it works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322326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7"/>
          <p:cNvSpPr/>
          <p:nvPr/>
        </p:nvSpPr>
        <p:spPr>
          <a:xfrm>
            <a:off x="339471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Interactive map (15 parks) → travel &amp; stay booking → marketplace of 28 crafts tied to real shops and Google Maps pins → on-demand pairing with guides from 12 Kenyan universities.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613791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028F3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7"/>
          <p:cNvSpPr/>
          <p:nvPr/>
        </p:nvSpPr>
        <p:spPr>
          <a:xfrm>
            <a:off x="613791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Why it's different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613791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630936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Built on Kenya’s own payment rail (~98% of mobile subscriptions use mobile money, CA Kenya) instead of card-only global OTAs; every shop and guide is named and mappable; guiding fees go to Kenyan students.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108" name="Google Shape;10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watermark.png" id="109" name="Google Shape;109;p18"/>
          <p:cNvPicPr preferRelativeResize="0"/>
          <p:nvPr/>
        </p:nvPicPr>
        <p:blipFill rotWithShape="1">
          <a:blip r:embed="rId4">
            <a:alphaModFix amt="22000"/>
          </a:blip>
          <a:srcRect b="0" l="0" r="0" t="0"/>
          <a:stretch/>
        </p:blipFill>
        <p:spPr>
          <a:xfrm>
            <a:off x="2719197" y="1559364"/>
            <a:ext cx="3703320" cy="223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110" name="Google Shape;110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8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03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PRODUCT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3" name="Google Shape;113;p18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Product Overview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Google Shape;114;p18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Four steps, one continuous journey — live build today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8"/>
          <p:cNvSpPr/>
          <p:nvPr/>
        </p:nvSpPr>
        <p:spPr>
          <a:xfrm>
            <a:off x="308610" y="2023110"/>
            <a:ext cx="8503920" cy="685800"/>
          </a:xfrm>
          <a:prstGeom prst="roundRect">
            <a:avLst>
              <a:gd fmla="val 80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/>
          <p:cNvSpPr/>
          <p:nvPr/>
        </p:nvSpPr>
        <p:spPr>
          <a:xfrm>
            <a:off x="480060" y="2160270"/>
            <a:ext cx="81610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Interactive map, integrated booking, working M-Pesa checkout, and a guide roster — with Kenyan craft and place photography throughout Artifacts and Guides.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308610" y="2914650"/>
            <a:ext cx="1885950" cy="1303020"/>
          </a:xfrm>
          <a:prstGeom prst="roundRect">
            <a:avLst>
              <a:gd fmla="val 4211" name="adj"/>
            </a:avLst>
          </a:prstGeom>
          <a:solidFill>
            <a:srgbClr val="EAF6EE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8"/>
          <p:cNvSpPr/>
          <p:nvPr/>
        </p:nvSpPr>
        <p:spPr>
          <a:xfrm>
            <a:off x="308610" y="3051810"/>
            <a:ext cx="18859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Discover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9" name="Google Shape;119;p18"/>
          <p:cNvSpPr/>
          <p:nvPr/>
        </p:nvSpPr>
        <p:spPr>
          <a:xfrm>
            <a:off x="411480" y="3360420"/>
            <a:ext cx="1680210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i="1" lang="en" sz="8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Browse 15 parks &amp; destinations on a live interactive map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0" name="Google Shape;120;p18"/>
          <p:cNvSpPr/>
          <p:nvPr/>
        </p:nvSpPr>
        <p:spPr>
          <a:xfrm>
            <a:off x="2194560" y="3326130"/>
            <a:ext cx="2606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500"/>
              <a:buFont typeface="Calibri"/>
              <a:buNone/>
            </a:pPr>
            <a:r>
              <a:rPr b="1" lang="en" sz="1500">
                <a:solidFill>
                  <a:srgbClr val="6B757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8"/>
          <p:cNvSpPr/>
          <p:nvPr/>
        </p:nvSpPr>
        <p:spPr>
          <a:xfrm>
            <a:off x="2455164" y="2914650"/>
            <a:ext cx="1885950" cy="1303020"/>
          </a:xfrm>
          <a:prstGeom prst="roundRect">
            <a:avLst>
              <a:gd fmla="val 4211" name="adj"/>
            </a:avLst>
          </a:prstGeom>
          <a:solidFill>
            <a:srgbClr val="FDECEB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8"/>
          <p:cNvSpPr/>
          <p:nvPr/>
        </p:nvSpPr>
        <p:spPr>
          <a:xfrm>
            <a:off x="2455164" y="3051810"/>
            <a:ext cx="18859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Plan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2558034" y="3360420"/>
            <a:ext cx="1680210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i="1" lang="en" sz="8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Book travel and accommodation in the same flow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4341114" y="3326130"/>
            <a:ext cx="2606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500"/>
              <a:buFont typeface="Calibri"/>
              <a:buNone/>
            </a:pPr>
            <a:r>
              <a:rPr b="1" lang="en" sz="1500">
                <a:solidFill>
                  <a:srgbClr val="6B757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4601718" y="2914650"/>
            <a:ext cx="1885950" cy="1303020"/>
          </a:xfrm>
          <a:prstGeom prst="roundRect">
            <a:avLst>
              <a:gd fmla="val 4211" name="adj"/>
            </a:avLst>
          </a:prstGeom>
          <a:solidFill>
            <a:srgbClr val="EAF6EE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8"/>
          <p:cNvSpPr/>
          <p:nvPr/>
        </p:nvSpPr>
        <p:spPr>
          <a:xfrm>
            <a:off x="4601718" y="3051810"/>
            <a:ext cx="18859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Shop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4704588" y="3360420"/>
            <a:ext cx="1680210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i="1" lang="en" sz="8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Buy authentic crafts from named Kenyan shops (Tabaka, Kazuri, Maasai Market)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8" name="Google Shape;128;p18"/>
          <p:cNvSpPr/>
          <p:nvPr/>
        </p:nvSpPr>
        <p:spPr>
          <a:xfrm>
            <a:off x="6487668" y="3326130"/>
            <a:ext cx="2606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500"/>
              <a:buFont typeface="Calibri"/>
              <a:buNone/>
            </a:pPr>
            <a:r>
              <a:rPr b="1" lang="en" sz="1500">
                <a:solidFill>
                  <a:srgbClr val="6B757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8"/>
          <p:cNvSpPr/>
          <p:nvPr/>
        </p:nvSpPr>
        <p:spPr>
          <a:xfrm>
            <a:off x="6748272" y="2914650"/>
            <a:ext cx="1885950" cy="1303020"/>
          </a:xfrm>
          <a:prstGeom prst="roundRect">
            <a:avLst>
              <a:gd fmla="val 4211" name="adj"/>
            </a:avLst>
          </a:prstGeom>
          <a:solidFill>
            <a:srgbClr val="FDECEB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/>
          <p:nvPr/>
        </p:nvSpPr>
        <p:spPr>
          <a:xfrm>
            <a:off x="6748272" y="3051810"/>
            <a:ext cx="18859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Connect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6851142" y="3360420"/>
            <a:ext cx="1680210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i="1" lang="en" sz="8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Pay by M-Pesa STK Push, then pair with a vetted student guide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138" name="Google Shape;13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9"/>
          <p:cNvSpPr/>
          <p:nvPr/>
        </p:nvSpPr>
        <p:spPr>
          <a:xfrm>
            <a:off x="8362061" y="240025"/>
            <a:ext cx="450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04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6672824" y="548635"/>
            <a:ext cx="2139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MARKET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1" name="Google Shape;141;p19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Market Opportunity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2" name="Google Shape;142;p19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Size the opportunity: TAM, SAM, SOM</a:t>
            </a:r>
            <a:endParaRPr sz="11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3" name="Google Shape;143;p19"/>
          <p:cNvSpPr/>
          <p:nvPr/>
        </p:nvSpPr>
        <p:spPr>
          <a:xfrm>
            <a:off x="308610" y="1954530"/>
            <a:ext cx="44577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TAM US$12.7B  ·  SAM ~US$3.8B  ·  SOM US$45M GMV (3-yr model)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8610" y="2194560"/>
            <a:ext cx="445770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9"/>
          <p:cNvSpPr/>
          <p:nvPr/>
        </p:nvSpPr>
        <p:spPr>
          <a:xfrm>
            <a:off x="4972050" y="1954530"/>
            <a:ext cx="3840480" cy="2571750"/>
          </a:xfrm>
          <a:prstGeom prst="roundRect">
            <a:avLst>
              <a:gd fmla="val 2133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9"/>
          <p:cNvSpPr/>
          <p:nvPr/>
        </p:nvSpPr>
        <p:spPr>
          <a:xfrm>
            <a:off x="5143500" y="2091690"/>
            <a:ext cx="3497580" cy="22974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• TAM — US$12.7B: WTTC Travel &amp; Tourism contribution to Kenya in 2025 (9.3% of GDP; 1.8M jobs).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>• SAM — ~US$3.8B (KES 0.5T): Ministry-reported direct tourism earnings from 7.9M visitors (2.7M international + 5.2M domestic).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• SOM (3-yr, modeled) — US$45M GMV: illustrative ~1.2% capture of international visitor spend on crafts / experiences / guiding (~US$5.0B international spend, WTTC).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>• Sources: WTTC EIR 2025/26; Kenya Ministry of Tourism &amp; Wildlife / Magical Kenya 2025.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152" name="Google Shape;15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watermark.png" id="153" name="Google Shape;153;p20"/>
          <p:cNvPicPr preferRelativeResize="0"/>
          <p:nvPr/>
        </p:nvPicPr>
        <p:blipFill rotWithShape="1">
          <a:blip r:embed="rId4">
            <a:alphaModFix amt="22000"/>
          </a:blip>
          <a:srcRect b="0" l="0" r="0" t="0"/>
          <a:stretch/>
        </p:blipFill>
        <p:spPr>
          <a:xfrm>
            <a:off x="2719197" y="1559364"/>
            <a:ext cx="3703320" cy="223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154" name="Google Shape;15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0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05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BUSINESS MODEL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Business Model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How do you make money?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0861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E4181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20"/>
          <p:cNvSpPr/>
          <p:nvPr/>
        </p:nvSpPr>
        <p:spPr>
          <a:xfrm>
            <a:off x="30861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Revenue Streams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1" name="Google Shape;161;p20"/>
          <p:cNvSpPr/>
          <p:nvPr/>
        </p:nvSpPr>
        <p:spPr>
          <a:xfrm>
            <a:off x="30861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48006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Craft GMV take-rate (~12%); guide-booking service fee (KES 500–800); 8–10% referral on travel &amp; stay; featured placement for shops (KES 3,000–8,000/mo) and guides.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3" name="Google Shape;163;p20"/>
          <p:cNvSpPr/>
          <p:nvPr/>
        </p:nvSpPr>
        <p:spPr>
          <a:xfrm>
            <a:off x="322326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E4181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322326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Pricing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322326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339471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Live catalogue KES 2,200–15,200 (~US$17–$118) across 28 crafts. Modeled below typical OTA 20–30% commissions (Viator / GetYourGuide) because checkout is native M-Pesa.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613791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E4181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0"/>
          <p:cNvSpPr/>
          <p:nvPr/>
        </p:nvSpPr>
        <p:spPr>
          <a:xfrm>
            <a:off x="613791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Unit Economics</a:t>
            </a:r>
            <a:endParaRPr sz="11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9" name="Google Shape;169;p20"/>
          <p:cNvSpPr/>
          <p:nvPr/>
        </p:nvSpPr>
        <p:spPr>
          <a:xfrm>
            <a:off x="613791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0"/>
          <p:cNvSpPr/>
          <p:nvPr/>
        </p:nvSpPr>
        <p:spPr>
          <a:xfrm>
            <a:off x="630936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Low CAC via university guide network and mapped shop partners. At modeled Y3 GMV US$45M and ~11% blended take-rate → ~US$5.0M platform revenue. LTV compounds across trips, crafts and guides.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176" name="Google Shape;17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watermark.png" id="177" name="Google Shape;177;p21"/>
          <p:cNvPicPr preferRelativeResize="0"/>
          <p:nvPr/>
        </p:nvPicPr>
        <p:blipFill rotWithShape="1">
          <a:blip r:embed="rId4">
            <a:alphaModFix amt="22000"/>
          </a:blip>
          <a:srcRect b="0" l="0" r="0" t="0"/>
          <a:stretch/>
        </p:blipFill>
        <p:spPr>
          <a:xfrm>
            <a:off x="2719197" y="1559364"/>
            <a:ext cx="3703320" cy="223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178" name="Google Shape;17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1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06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Google Shape;180;p21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TRACTION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1" name="Google Shape;181;p21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Traction &amp; Validation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2" name="Google Shape;182;p21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Pre-launch product build — seeking pilot partners (not live revenue yet)</a:t>
            </a:r>
            <a:endParaRPr sz="11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308610" y="2023110"/>
            <a:ext cx="4080510" cy="1097280"/>
          </a:xfrm>
          <a:prstGeom prst="roundRect">
            <a:avLst>
              <a:gd fmla="val 50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1"/>
          <p:cNvSpPr/>
          <p:nvPr/>
        </p:nvSpPr>
        <p:spPr>
          <a:xfrm>
            <a:off x="514350" y="2146554"/>
            <a:ext cx="13716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800"/>
              <a:buFont typeface="Arial"/>
              <a:buNone/>
            </a:pPr>
            <a:r>
              <a:rPr b="1" lang="en" sz="1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28</a:t>
            </a:r>
            <a:endParaRPr sz="1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21"/>
          <p:cNvSpPr/>
          <p:nvPr/>
        </p:nvSpPr>
        <p:spPr>
          <a:xfrm>
            <a:off x="514350" y="2674620"/>
            <a:ext cx="3703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900"/>
              <a:buFont typeface="Arial"/>
              <a:buNone/>
            </a:pPr>
            <a:r>
              <a:rPr lang="en" sz="9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Curated crafts listed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6" name="Google Shape;186;p21"/>
          <p:cNvSpPr/>
          <p:nvPr/>
        </p:nvSpPr>
        <p:spPr>
          <a:xfrm>
            <a:off x="4594860" y="2023110"/>
            <a:ext cx="4080510" cy="1097280"/>
          </a:xfrm>
          <a:prstGeom prst="roundRect">
            <a:avLst>
              <a:gd fmla="val 50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1"/>
          <p:cNvSpPr/>
          <p:nvPr/>
        </p:nvSpPr>
        <p:spPr>
          <a:xfrm>
            <a:off x="4800600" y="2146554"/>
            <a:ext cx="13716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800"/>
              <a:buFont typeface="Arial"/>
              <a:buNone/>
            </a:pPr>
            <a:r>
              <a:rPr b="1" lang="en" sz="1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24+</a:t>
            </a:r>
            <a:endParaRPr sz="1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8" name="Google Shape;188;p21"/>
          <p:cNvSpPr/>
          <p:nvPr/>
        </p:nvSpPr>
        <p:spPr>
          <a:xfrm>
            <a:off x="4800600" y="2674620"/>
            <a:ext cx="3703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900"/>
              <a:buFont typeface="Arial"/>
              <a:buNone/>
            </a:pPr>
            <a:r>
              <a:rPr lang="en" sz="9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Named Kenyan shops mapped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308610" y="3291840"/>
            <a:ext cx="4080510" cy="1097280"/>
          </a:xfrm>
          <a:prstGeom prst="roundRect">
            <a:avLst>
              <a:gd fmla="val 50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1"/>
          <p:cNvSpPr/>
          <p:nvPr/>
        </p:nvSpPr>
        <p:spPr>
          <a:xfrm>
            <a:off x="514350" y="3415284"/>
            <a:ext cx="13716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800"/>
              <a:buFont typeface="Arial"/>
              <a:buNone/>
            </a:pPr>
            <a:r>
              <a:rPr b="1" lang="en" sz="1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Pre-rev</a:t>
            </a:r>
            <a:endParaRPr sz="1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1" name="Google Shape;191;p21"/>
          <p:cNvSpPr/>
          <p:nvPr/>
        </p:nvSpPr>
        <p:spPr>
          <a:xfrm>
            <a:off x="514350" y="3943350"/>
            <a:ext cx="3703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900"/>
              <a:buFont typeface="Arial"/>
              <a:buNone/>
            </a:pPr>
            <a:r>
              <a:rPr lang="en" sz="9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Seeking pilot capital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2" name="Google Shape;192;p21"/>
          <p:cNvSpPr/>
          <p:nvPr/>
        </p:nvSpPr>
        <p:spPr>
          <a:xfrm>
            <a:off x="4594860" y="3291840"/>
            <a:ext cx="4080510" cy="1097280"/>
          </a:xfrm>
          <a:prstGeom prst="roundRect">
            <a:avLst>
              <a:gd fmla="val 50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21"/>
          <p:cNvSpPr/>
          <p:nvPr/>
        </p:nvSpPr>
        <p:spPr>
          <a:xfrm>
            <a:off x="4800600" y="3415284"/>
            <a:ext cx="13716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800"/>
              <a:buFont typeface="Arial"/>
              <a:buNone/>
            </a:pPr>
            <a:r>
              <a:rPr b="1" lang="en" sz="1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1</a:t>
            </a:r>
            <a:endParaRPr sz="1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4800600" y="3943350"/>
            <a:ext cx="3703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900"/>
              <a:buFont typeface="Arial"/>
              <a:buNone/>
            </a:pPr>
            <a:r>
              <a:rPr lang="en" sz="9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Live M-Pesa STK Push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200" name="Google Shape;20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201" name="Google Shape;20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08910" y="39602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2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07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3" name="Google Shape;203;p22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COMPETITION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Competitive Landscape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5" name="Google Shape;205;p22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Where you sit versus alternatives</a:t>
            </a:r>
            <a:endParaRPr sz="11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cxnSp>
        <p:nvCxnSpPr>
          <p:cNvPr id="206" name="Google Shape;206;p22"/>
          <p:cNvCxnSpPr/>
          <p:nvPr/>
        </p:nvCxnSpPr>
        <p:spPr>
          <a:xfrm>
            <a:off x="857250" y="2571750"/>
            <a:ext cx="5212080" cy="0"/>
          </a:xfrm>
          <a:prstGeom prst="straightConnector1">
            <a:avLst/>
          </a:prstGeom>
          <a:noFill/>
          <a:ln cap="flat" cmpd="sng" w="1905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7" name="Google Shape;207;p22"/>
          <p:cNvCxnSpPr/>
          <p:nvPr/>
        </p:nvCxnSpPr>
        <p:spPr>
          <a:xfrm>
            <a:off x="3223260" y="1988820"/>
            <a:ext cx="0" cy="2743200"/>
          </a:xfrm>
          <a:prstGeom prst="straightConnector1">
            <a:avLst/>
          </a:prstGeom>
          <a:noFill/>
          <a:ln cap="flat" cmpd="sng" w="1905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22"/>
          <p:cNvSpPr/>
          <p:nvPr/>
        </p:nvSpPr>
        <p:spPr>
          <a:xfrm>
            <a:off x="548640" y="1714500"/>
            <a:ext cx="5349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i="1" lang="en" sz="8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Kenya-native payments &amp; verified local shops/guides →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09" name="Google Shape;209;p22"/>
          <p:cNvSpPr/>
          <p:nvPr/>
        </p:nvSpPr>
        <p:spPr>
          <a:xfrm>
            <a:off x="548640" y="4786884"/>
            <a:ext cx="53492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i="1" lang="en" sz="8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>Breadth of Kenya travel experience ↑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2"/>
          <p:cNvSpPr/>
          <p:nvPr/>
        </p:nvSpPr>
        <p:spPr>
          <a:xfrm>
            <a:off x="2846070" y="2983230"/>
            <a:ext cx="754380" cy="754380"/>
          </a:xfrm>
          <a:prstGeom prst="ellipse">
            <a:avLst/>
          </a:prstGeom>
          <a:solidFill>
            <a:srgbClr val="028F35">
              <a:alpha val="85098"/>
            </a:srgbClr>
          </a:solidFill>
          <a:ln cap="flat" cmpd="sng" w="19050">
            <a:solidFill>
              <a:srgbClr val="028F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22"/>
          <p:cNvSpPr/>
          <p:nvPr/>
        </p:nvSpPr>
        <p:spPr>
          <a:xfrm>
            <a:off x="2846070" y="3257550"/>
            <a:ext cx="7543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Aurora Travels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12" name="Google Shape;212;p22"/>
          <p:cNvSpPr/>
          <p:nvPr/>
        </p:nvSpPr>
        <p:spPr>
          <a:xfrm>
            <a:off x="1508760" y="2674620"/>
            <a:ext cx="514350" cy="514350"/>
          </a:xfrm>
          <a:prstGeom prst="ellipse">
            <a:avLst/>
          </a:prstGeom>
          <a:solidFill>
            <a:srgbClr val="6B7573">
              <a:alpha val="70196"/>
            </a:srgbClr>
          </a:solidFill>
          <a:ln cap="flat" cmpd="sng" w="12700">
            <a:solidFill>
              <a:srgbClr val="6B75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13" name="Google Shape;213;p22"/>
          <p:cNvSpPr/>
          <p:nvPr/>
        </p:nvSpPr>
        <p:spPr>
          <a:xfrm>
            <a:off x="1303020" y="3209544"/>
            <a:ext cx="9258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SafariBookings</a:t>
            </a:r>
            <a:endParaRPr sz="7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14" name="Google Shape;214;p22"/>
          <p:cNvSpPr/>
          <p:nvPr/>
        </p:nvSpPr>
        <p:spPr>
          <a:xfrm>
            <a:off x="4457700" y="3840480"/>
            <a:ext cx="514350" cy="514350"/>
          </a:xfrm>
          <a:prstGeom prst="ellipse">
            <a:avLst/>
          </a:prstGeom>
          <a:solidFill>
            <a:srgbClr val="6B7573">
              <a:alpha val="70196"/>
            </a:srgbClr>
          </a:solidFill>
          <a:ln cap="flat" cmpd="sng" w="12700">
            <a:solidFill>
              <a:srgbClr val="6B75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15" name="Google Shape;215;p22"/>
          <p:cNvSpPr/>
          <p:nvPr/>
        </p:nvSpPr>
        <p:spPr>
          <a:xfrm>
            <a:off x="4251960" y="4375404"/>
            <a:ext cx="9258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Viator / GYG / Klook</a:t>
            </a:r>
            <a:endParaRPr sz="7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16" name="Google Shape;216;p22"/>
          <p:cNvSpPr/>
          <p:nvPr/>
        </p:nvSpPr>
        <p:spPr>
          <a:xfrm>
            <a:off x="2674620" y="4251960"/>
            <a:ext cx="514350" cy="514350"/>
          </a:xfrm>
          <a:prstGeom prst="ellipse">
            <a:avLst/>
          </a:prstGeom>
          <a:solidFill>
            <a:srgbClr val="6B7573">
              <a:alpha val="70196"/>
            </a:srgbClr>
          </a:solidFill>
          <a:ln cap="flat" cmpd="sng" w="12700">
            <a:solidFill>
              <a:srgbClr val="6B75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2468880" y="4786884"/>
            <a:ext cx="9258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Informal curios</a:t>
            </a:r>
            <a:endParaRPr sz="7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18" name="Google Shape;218;p22"/>
          <p:cNvSpPr/>
          <p:nvPr/>
        </p:nvSpPr>
        <p:spPr>
          <a:xfrm>
            <a:off x="6069330" y="1988820"/>
            <a:ext cx="2743200" cy="2743200"/>
          </a:xfrm>
          <a:prstGeom prst="roundRect">
            <a:avLst>
              <a:gd fmla="val 20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6240780" y="2125980"/>
            <a:ext cx="24003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>• Global OTAs charge 20–30% and are card-first; they don’t sell named Kenyan artisan shops or student guides.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>• SafariBookings lists tours but does not process payment or sell crafts/guides directly.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>• Defensible advantage: M-Pesa-native checkout + verified local shops/guides in one Kenya-first journey (~98% mobile-money reach).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225" name="Google Shape;22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watermark.png" id="226" name="Google Shape;226;p23"/>
          <p:cNvPicPr preferRelativeResize="0"/>
          <p:nvPr/>
        </p:nvPicPr>
        <p:blipFill rotWithShape="1">
          <a:blip r:embed="rId4">
            <a:alphaModFix amt="22000"/>
          </a:blip>
          <a:srcRect b="0" l="0" r="0" t="0"/>
          <a:stretch/>
        </p:blipFill>
        <p:spPr>
          <a:xfrm>
            <a:off x="2719197" y="1559364"/>
            <a:ext cx="3703320" cy="223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227" name="Google Shape;227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3"/>
          <p:cNvSpPr/>
          <p:nvPr/>
        </p:nvSpPr>
        <p:spPr>
          <a:xfrm>
            <a:off x="8350949" y="240025"/>
            <a:ext cx="447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08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9" name="Google Shape;229;p23"/>
          <p:cNvSpPr/>
          <p:nvPr/>
        </p:nvSpPr>
        <p:spPr>
          <a:xfrm>
            <a:off x="6672824" y="548635"/>
            <a:ext cx="212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GO-TO-MARKET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0" name="Google Shape;230;p23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Go-To-Market Strategy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1" name="Google Shape;231;p23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How you'll acquire and scale users</a:t>
            </a:r>
            <a:endParaRPr sz="11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2" name="Google Shape;232;p23"/>
          <p:cNvSpPr/>
          <p:nvPr/>
        </p:nvSpPr>
        <p:spPr>
          <a:xfrm>
            <a:off x="30861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028F3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3"/>
          <p:cNvSpPr/>
          <p:nvPr/>
        </p:nvSpPr>
        <p:spPr>
          <a:xfrm>
            <a:off x="30861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Phase 1 — Launch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34" name="Google Shape;234;p23"/>
          <p:cNvSpPr/>
          <p:nvPr/>
        </p:nvSpPr>
        <p:spPr>
          <a:xfrm>
            <a:off x="30861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3"/>
          <p:cNvSpPr/>
          <p:nvPr/>
        </p:nvSpPr>
        <p:spPr>
          <a:xfrm>
            <a:off x="48006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Nairobi + Maasai Mara gateway (Narok). Onboard mapped shops — Maasai Market, Tabaka Soapstone, Wamunyu Carvers, Kazuri — and first university guide cohort. Target: 40 shops, 40 guides, first 5,000 paid transactions.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36" name="Google Shape;236;p23"/>
          <p:cNvSpPr/>
          <p:nvPr/>
        </p:nvSpPr>
        <p:spPr>
          <a:xfrm>
            <a:off x="322326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028F3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23"/>
          <p:cNvSpPr/>
          <p:nvPr/>
        </p:nvSpPr>
        <p:spPr>
          <a:xfrm>
            <a:off x="322326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Phase 2 — Scale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38" name="Google Shape;238;p23"/>
          <p:cNvSpPr/>
          <p:nvPr/>
        </p:nvSpPr>
        <p:spPr>
          <a:xfrm>
            <a:off x="322326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3"/>
          <p:cNvSpPr/>
          <p:nvPr/>
        </p:nvSpPr>
        <p:spPr>
          <a:xfrm>
            <a:off x="339471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Extend across more of Kenya’s 47 counties toward 2027 targets (5.5M international arrivals; KES 1T earnings). Prioritise 2025 top source markets: US, Uganda, Tanzania, UK.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6137910" y="1988820"/>
            <a:ext cx="2743200" cy="377190"/>
          </a:xfrm>
          <a:prstGeom prst="roundRect">
            <a:avLst>
              <a:gd fmla="val 10909" name="adj"/>
            </a:avLst>
          </a:prstGeom>
          <a:solidFill>
            <a:srgbClr val="028F3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3"/>
          <p:cNvSpPr/>
          <p:nvPr/>
        </p:nvSpPr>
        <p:spPr>
          <a:xfrm>
            <a:off x="6137910" y="1988820"/>
            <a:ext cx="27432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Phase 3 — Sustain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42" name="Google Shape;242;p23"/>
          <p:cNvSpPr/>
          <p:nvPr/>
        </p:nvSpPr>
        <p:spPr>
          <a:xfrm>
            <a:off x="6137910" y="2434590"/>
            <a:ext cx="2743200" cy="1714500"/>
          </a:xfrm>
          <a:prstGeom prst="roundRect">
            <a:avLst>
              <a:gd fmla="val 3200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3"/>
          <p:cNvSpPr/>
          <p:nvPr/>
        </p:nvSpPr>
        <p:spPr>
          <a:xfrm>
            <a:off x="6309360" y="2571750"/>
            <a:ext cx="24003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900"/>
              <a:buFont typeface="Arial"/>
              <a:buNone/>
            </a:pPr>
            <a:r>
              <a:rPr i="1" lang="en" sz="9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Expand into the East African safari circuit (Tanzania, Uganda) already on Aurora’s park map — Mara–Serengeti / Great Rift corridor — with cross-border craft and guide networks.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249" name="Google Shape;24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250" name="Google Shape;25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4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09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2" name="Google Shape;252;p24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THE TEAM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3" name="Google Shape;253;p24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Team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4" name="Google Shape;254;p24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Why you're the right team to solve this</a:t>
            </a:r>
            <a:endParaRPr sz="11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5" name="Google Shape;255;p24"/>
          <p:cNvSpPr/>
          <p:nvPr/>
        </p:nvSpPr>
        <p:spPr>
          <a:xfrm>
            <a:off x="960120" y="2023110"/>
            <a:ext cx="788670" cy="788670"/>
          </a:xfrm>
          <a:prstGeom prst="ellipse">
            <a:avLst/>
          </a:prstGeom>
          <a:solidFill>
            <a:srgbClr val="F0F2F1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4"/>
          <p:cNvSpPr/>
          <p:nvPr/>
        </p:nvSpPr>
        <p:spPr>
          <a:xfrm>
            <a:off x="960120" y="2297430"/>
            <a:ext cx="78867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>PO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4"/>
          <p:cNvSpPr/>
          <p:nvPr/>
        </p:nvSpPr>
        <p:spPr>
          <a:xfrm>
            <a:off x="308610" y="2948940"/>
            <a:ext cx="209169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ProximaOpal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58" name="Google Shape;258;p24"/>
          <p:cNvSpPr/>
          <p:nvPr/>
        </p:nvSpPr>
        <p:spPr>
          <a:xfrm>
            <a:off x="308610" y="3188970"/>
            <a:ext cx="209169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Founder &amp; Full-Stack Product Engineer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59" name="Google Shape;259;p24"/>
          <p:cNvSpPr/>
          <p:nvPr/>
        </p:nvSpPr>
        <p:spPr>
          <a:xfrm>
            <a:off x="411480" y="3429000"/>
            <a:ext cx="18859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Nairobi-based web/AI builder; shipped Aurora Travels solo including maps, marketplace and live M-Pesa STK Push.</a:t>
            </a:r>
            <a:endParaRPr sz="7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60" name="Google Shape;260;p24"/>
          <p:cNvSpPr/>
          <p:nvPr/>
        </p:nvSpPr>
        <p:spPr>
          <a:xfrm>
            <a:off x="3106674" y="2023110"/>
            <a:ext cx="788670" cy="788670"/>
          </a:xfrm>
          <a:prstGeom prst="ellipse">
            <a:avLst/>
          </a:prstGeom>
          <a:solidFill>
            <a:srgbClr val="F0F2F1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4"/>
          <p:cNvSpPr/>
          <p:nvPr/>
        </p:nvSpPr>
        <p:spPr>
          <a:xfrm>
            <a:off x="3106674" y="2297430"/>
            <a:ext cx="78867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4"/>
          <p:cNvSpPr/>
          <p:nvPr/>
        </p:nvSpPr>
        <p:spPr>
          <a:xfrm>
            <a:off x="2455164" y="2948940"/>
            <a:ext cx="209169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Open role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63" name="Google Shape;263;p24"/>
          <p:cNvSpPr/>
          <p:nvPr/>
        </p:nvSpPr>
        <p:spPr>
          <a:xfrm>
            <a:off x="2455164" y="3188970"/>
            <a:ext cx="209169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Tourism partnerships lead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64" name="Google Shape;264;p24"/>
          <p:cNvSpPr/>
          <p:nvPr/>
        </p:nvSpPr>
        <p:spPr>
          <a:xfrm>
            <a:off x="2558034" y="3429000"/>
            <a:ext cx="18859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Formalize shop, park and guide agreements across Kenya.</a:t>
            </a:r>
            <a:endParaRPr sz="7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65" name="Google Shape;265;p24"/>
          <p:cNvSpPr/>
          <p:nvPr/>
        </p:nvSpPr>
        <p:spPr>
          <a:xfrm>
            <a:off x="5253228" y="2023110"/>
            <a:ext cx="788670" cy="788670"/>
          </a:xfrm>
          <a:prstGeom prst="ellipse">
            <a:avLst/>
          </a:prstGeom>
          <a:solidFill>
            <a:srgbClr val="F0F2F1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4"/>
          <p:cNvSpPr/>
          <p:nvPr/>
        </p:nvSpPr>
        <p:spPr>
          <a:xfrm>
            <a:off x="5253228" y="2297430"/>
            <a:ext cx="78867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4"/>
          <p:cNvSpPr/>
          <p:nvPr/>
        </p:nvSpPr>
        <p:spPr>
          <a:xfrm>
            <a:off x="4601718" y="2948940"/>
            <a:ext cx="209169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Open role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68" name="Google Shape;268;p24"/>
          <p:cNvSpPr/>
          <p:nvPr/>
        </p:nvSpPr>
        <p:spPr>
          <a:xfrm>
            <a:off x="4601718" y="3188970"/>
            <a:ext cx="209169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Artisan network coordinator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69" name="Google Shape;269;p24"/>
          <p:cNvSpPr/>
          <p:nvPr/>
        </p:nvSpPr>
        <p:spPr>
          <a:xfrm>
            <a:off x="4704588" y="3429000"/>
            <a:ext cx="18859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Onboard and verify craft shops county by county.</a:t>
            </a:r>
            <a:endParaRPr sz="7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0" name="Google Shape;270;p24"/>
          <p:cNvSpPr/>
          <p:nvPr/>
        </p:nvSpPr>
        <p:spPr>
          <a:xfrm>
            <a:off x="7399782" y="2023110"/>
            <a:ext cx="788670" cy="788670"/>
          </a:xfrm>
          <a:prstGeom prst="ellipse">
            <a:avLst/>
          </a:prstGeom>
          <a:solidFill>
            <a:srgbClr val="F0F2F1"/>
          </a:solidFill>
          <a:ln cap="flat" cmpd="sng" w="12700">
            <a:solidFill>
              <a:srgbClr val="DCE3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4"/>
          <p:cNvSpPr/>
          <p:nvPr/>
        </p:nvSpPr>
        <p:spPr>
          <a:xfrm>
            <a:off x="7399782" y="2297430"/>
            <a:ext cx="78867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4"/>
          <p:cNvSpPr/>
          <p:nvPr/>
        </p:nvSpPr>
        <p:spPr>
          <a:xfrm>
            <a:off x="6748272" y="2948940"/>
            <a:ext cx="209169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1000"/>
              <a:buFont typeface="Arial"/>
              <a:buNone/>
            </a:pPr>
            <a:r>
              <a:rPr b="1" lang="en" sz="1000">
                <a:solidFill>
                  <a:srgbClr val="1F2323"/>
                </a:solidFill>
                <a:latin typeface="Nunito"/>
                <a:ea typeface="Nunito"/>
                <a:cs typeface="Nunito"/>
                <a:sym typeface="Nunito"/>
              </a:rPr>
              <a:t>Open role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3" name="Google Shape;273;p24"/>
          <p:cNvSpPr/>
          <p:nvPr/>
        </p:nvSpPr>
        <p:spPr>
          <a:xfrm>
            <a:off x="6748272" y="3188970"/>
            <a:ext cx="209169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028F35"/>
                </a:solidFill>
                <a:latin typeface="Nunito"/>
                <a:ea typeface="Nunito"/>
                <a:cs typeface="Nunito"/>
                <a:sym typeface="Nunito"/>
              </a:rPr>
              <a:t>Growth / GTM support</a:t>
            </a:r>
            <a:endParaRPr sz="8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4" name="Google Shape;274;p24"/>
          <p:cNvSpPr/>
          <p:nvPr/>
        </p:nvSpPr>
        <p:spPr>
          <a:xfrm>
            <a:off x="6851142" y="3429000"/>
            <a:ext cx="18859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Run the Nairobi + Maasai Mara pilot launch.</a:t>
            </a:r>
            <a:endParaRPr sz="7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.png" id="280" name="Google Shape;28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610" y="240030"/>
            <a:ext cx="1062990" cy="4357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watermark.png" id="281" name="Google Shape;281;p25"/>
          <p:cNvPicPr preferRelativeResize="0"/>
          <p:nvPr/>
        </p:nvPicPr>
        <p:blipFill rotWithShape="1">
          <a:blip r:embed="rId4">
            <a:alphaModFix amt="22000"/>
          </a:blip>
          <a:srcRect b="0" l="0" r="0" t="0"/>
          <a:stretch/>
        </p:blipFill>
        <p:spPr>
          <a:xfrm>
            <a:off x="2719197" y="1559364"/>
            <a:ext cx="3703320" cy="223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oter.png" id="282" name="Google Shape;282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07717" y="4709899"/>
            <a:ext cx="4526280" cy="28272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/>
          <p:nvPr/>
        </p:nvSpPr>
        <p:spPr>
          <a:xfrm>
            <a:off x="8215884" y="240030"/>
            <a:ext cx="411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700"/>
              <a:buFont typeface="Arial"/>
              <a:buNone/>
            </a:pPr>
            <a:r>
              <a:rPr b="1" lang="en" sz="17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10</a:t>
            </a:r>
            <a:endParaRPr sz="17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84" name="Google Shape;284;p25"/>
          <p:cNvSpPr/>
          <p:nvPr/>
        </p:nvSpPr>
        <p:spPr>
          <a:xfrm>
            <a:off x="6672834" y="548640"/>
            <a:ext cx="195453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6B7573"/>
                </a:solidFill>
                <a:latin typeface="Google Sans"/>
                <a:ea typeface="Google Sans"/>
                <a:cs typeface="Google Sans"/>
                <a:sym typeface="Google Sans"/>
              </a:rPr>
              <a:t>THE ASK</a:t>
            </a:r>
            <a:endParaRPr sz="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85" name="Google Shape;285;p25"/>
          <p:cNvSpPr/>
          <p:nvPr/>
        </p:nvSpPr>
        <p:spPr>
          <a:xfrm>
            <a:off x="308610" y="1062990"/>
            <a:ext cx="651510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3"/>
              </a:buClr>
              <a:buSzPts val="2400"/>
              <a:buFont typeface="Arial"/>
              <a:buNone/>
            </a:pPr>
            <a:r>
              <a:rPr b="1" lang="en" sz="2400">
                <a:solidFill>
                  <a:srgbClr val="1F2323"/>
                </a:solidFill>
                <a:latin typeface="Google Sans"/>
                <a:ea typeface="Google Sans"/>
                <a:cs typeface="Google Sans"/>
                <a:sym typeface="Google Sans"/>
              </a:rPr>
              <a:t>Financials &amp; The Ask</a:t>
            </a:r>
            <a:endParaRPr sz="24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86" name="Google Shape;286;p25"/>
          <p:cNvSpPr/>
          <p:nvPr/>
        </p:nvSpPr>
        <p:spPr>
          <a:xfrm>
            <a:off x="308610" y="1591056"/>
            <a:ext cx="67208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F35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028F35"/>
                </a:solidFill>
                <a:latin typeface="Google Sans"/>
                <a:ea typeface="Google Sans"/>
                <a:cs typeface="Google Sans"/>
                <a:sym typeface="Google Sans"/>
              </a:rPr>
              <a:t>What you need, and what it enables</a:t>
            </a:r>
            <a:endParaRPr sz="11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87" name="Google Shape;287;p25"/>
          <p:cNvSpPr/>
          <p:nvPr/>
        </p:nvSpPr>
        <p:spPr>
          <a:xfrm>
            <a:off x="308610" y="2023110"/>
            <a:ext cx="4046220" cy="2331720"/>
          </a:xfrm>
          <a:prstGeom prst="roundRect">
            <a:avLst>
              <a:gd fmla="val 2353" name="adj"/>
            </a:avLst>
          </a:prstGeom>
          <a:solidFill>
            <a:srgbClr val="EAF6EE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88" name="Google Shape;288;p25"/>
          <p:cNvSpPr/>
          <p:nvPr/>
        </p:nvSpPr>
        <p:spPr>
          <a:xfrm>
            <a:off x="480060" y="2160270"/>
            <a:ext cx="370332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Funding / support requested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>US$180,000 (~KES 23.4M at ~130 KES/USD) — 18-month Nairobi + Maasai Mara pilot.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Open to grant, equity, in-kind tourism partnerships, or blended support.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Use of funds: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>• Product &amp; engineering — 40% (US$72,000)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• Artisan &amp; guide network growth — 35% (US$63,000)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• Marketing &amp; pilot launch — 25% (US$45,000)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89" name="Google Shape;289;p25"/>
          <p:cNvSpPr/>
          <p:nvPr/>
        </p:nvSpPr>
        <p:spPr>
          <a:xfrm>
            <a:off x="4491990" y="2023110"/>
            <a:ext cx="4320540" cy="2331720"/>
          </a:xfrm>
          <a:prstGeom prst="roundRect">
            <a:avLst>
              <a:gd fmla="val 2353" name="adj"/>
            </a:avLst>
          </a:prstGeom>
          <a:solidFill>
            <a:srgbClr val="F7F9F8"/>
          </a:solidFill>
          <a:ln cap="flat" cmpd="sng" w="12700">
            <a:solidFill>
              <a:srgbClr val="DCE3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5"/>
          <p:cNvSpPr/>
          <p:nvPr/>
        </p:nvSpPr>
        <p:spPr>
          <a:xfrm>
            <a:off x="4663440" y="2160270"/>
            <a:ext cx="397764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12–24 month projection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>Shop partners onboarded (model): 24 → 40 → 65 → 90 → 120 → 160 → 210 → 270 over 8 quarters.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Y3 modeled platform revenue ~US$5.0M at 11% blended take on US$45M GMV.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>Headline metric: named Kenyan shops live on Aurora with M-Pesa checkout.</a:t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573"/>
              </a:buClr>
              <a:buSzPts val="1000"/>
              <a:buFont typeface="Arial"/>
              <a:buNone/>
            </a:pPr>
            <a:r>
              <a:rPr i="1" lang="en" sz="1000">
                <a:solidFill>
                  <a:srgbClr val="6B7573"/>
                </a:solidFill>
                <a:latin typeface="Nunito"/>
                <a:ea typeface="Nunito"/>
                <a:cs typeface="Nunito"/>
                <a:sym typeface="Nunito"/>
              </a:rPr>
              <a:t/>
            </a:r>
            <a:endParaRPr sz="1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