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4EDE1"/>
                </a:solidFill>
                <a:latin typeface="Arial"/>
              </a:defRPr>
            </a:pPr>
            <a:r>
              <a:rPr sz="1200" b="0" i="0" u="none" strike="noStrike">
                <a:solidFill>
                  <a:srgbClr val="F4EDE1"/>
                </a:solidFill>
                <a:latin typeface="Arial"/>
              </a:rPr>
              <a:t>US$ billions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 billions</c:v>
                </c:pt>
              </c:strCache>
            </c:strRef>
          </c:tx>
          <c:spPr>
            <a:solidFill>
              <a:srgbClr val="C150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4EDE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TAM
(WTTC)</c:v>
                  </c:pt>
                  <c:pt idx="1">
                    <c:v>SAM
(earnings)</c:v>
                  </c:pt>
                  <c:pt idx="2">
                    <c:v>SOM
(3yr model)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12.7</c:v>
                </c:pt>
                <c:pt idx="1">
                  <c:v>3.8</c:v>
                </c:pt>
                <c:pt idx="2">
                  <c:v>0.045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4EDE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FB29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FB29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E3226"/>
        </a:solidFill>
        <a:ln>
          <a:noFill/>
        </a:ln>
        <a:effectLst/>
      </c:spPr>
    </c:plotArea>
    <c:plotVisOnly val="1"/>
    <c:dispBlanksAs val="span"/>
  </c:chart>
  <c:spPr>
    <a:solidFill>
      <a:srgbClr val="1E3226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Shop partners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Q5</c:v>
                  </c:pt>
                  <c:pt idx="5">
                    <c:v>Q6</c:v>
                  </c:pt>
                  <c:pt idx="6">
                    <c:v>Q7</c:v>
                  </c:pt>
                  <c:pt idx="7">
                    <c:v>Q8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24</c:v>
                </c:pt>
                <c:pt idx="1">
                  <c:v>40</c:v>
                </c:pt>
                <c:pt idx="2">
                  <c:v>65</c:v>
                </c:pt>
                <c:pt idx="3">
                  <c:v>90</c:v>
                </c:pt>
                <c:pt idx="4">
                  <c:v>120</c:v>
                </c:pt>
                <c:pt idx="5">
                  <c:v>160</c:v>
                </c:pt>
                <c:pt idx="6">
                  <c:v>210</c:v>
                </c:pt>
                <c:pt idx="7">
                  <c:v>270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BFB29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24392B"/>
        </a:solidFill>
        <a:ln>
          <a:noFill/>
        </a:ln>
        <a:effectLst/>
      </c:spPr>
    </c:plotArea>
    <c:plotVisOnly val="1"/>
    <c:dispBlanksAs val="span"/>
  </c:chart>
  <c:spPr>
    <a:solidFill>
      <a:srgbClr val="24392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1E3226"/>
          </a:solidFill>
          <a:ln w="12700">
            <a:solidFill>
              <a:srgbClr val="1E32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-1097280"/>
            <a:ext cx="4572000" cy="4572000"/>
          </a:xfrm>
          <a:prstGeom prst="ellipse">
            <a:avLst/>
          </a:prstGeom>
          <a:solidFill>
            <a:srgbClr val="24392B"/>
          </a:solidFill>
          <a:ln w="12700">
            <a:solidFill>
              <a:srgbClr val="24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· TRAVEL · CULTURE · COMMERCE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783080"/>
            <a:ext cx="10058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4ED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AURORA</a:t>
            </a:r>
            <a:pPr indent="0" marL="0">
              <a:buNone/>
            </a:pPr>
            <a:r>
              <a:rPr lang="en-US" sz="6000" b="1" dirty="0">
                <a:solidFill>
                  <a:srgbClr val="C15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TRAVELS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single, Kenya-native app for parks, stays, verified crafts and student guides — pitched for partnership and investment.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70916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1E3226"/>
          </a:solidFill>
          <a:ln w="12700">
            <a:solidFill>
              <a:srgbClr val="1E32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481888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87552" y="51663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parks &amp; destinations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64992" y="470916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1E3226"/>
          </a:solidFill>
          <a:ln w="12700">
            <a:solidFill>
              <a:srgbClr val="1E32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9584" y="481888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29584" y="51663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verified Kenyan crafts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07024" y="470916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1E3226"/>
          </a:solidFill>
          <a:ln w="12700">
            <a:solidFill>
              <a:srgbClr val="1E32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71616" y="481888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071616" y="51663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M-Pesa STK Push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449056" y="470916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1E3226"/>
          </a:solidFill>
          <a:ln w="12700">
            <a:solidFill>
              <a:srgbClr val="1E32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13648" y="481888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613648" y="51663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university guides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" y="6263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 Nairobi by ProximaOpal — web &amp; AI product engineer  ·  auroratravels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2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66928" cy="566928"/>
          </a:xfrm>
          <a:prstGeom prst="ellipse">
            <a:avLst/>
          </a:prstGeom>
          <a:solidFill>
            <a:srgbClr val="C1502E"/>
          </a:solidFill>
          <a:ln w="12700">
            <a:solidFill>
              <a:srgbClr val="C15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02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ED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71600" y="5943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ED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Kenya's travel experience is fragmented — and its creative economy is invisible online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85800" y="2414016"/>
            <a:ext cx="128016" cy="128016"/>
          </a:xfrm>
          <a:prstGeom prst="ellipse">
            <a:avLst/>
          </a:prstGeom>
          <a:solidFill>
            <a:srgbClr val="C1502E"/>
          </a:solidFill>
          <a:ln w="12700">
            <a:solidFill>
              <a:srgbClr val="C150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221992"/>
            <a:ext cx="6309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rose 9% year-on-year to 2.7 million in 2025 (from 2.47M in 2024), with 5.2M domestic trips — 7.9M total visitors — yet travelers still stitch together separate tools for parks, stays, curio shopping and guides, mostly through commission-heavy foreign booking platforms.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3584448"/>
            <a:ext cx="128016" cy="128016"/>
          </a:xfrm>
          <a:prstGeom prst="ellipse">
            <a:avLst/>
          </a:prstGeom>
          <a:solidFill>
            <a:srgbClr val="C1502E"/>
          </a:solidFill>
          <a:ln w="12700">
            <a:solidFill>
              <a:srgbClr val="C150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392424"/>
            <a:ext cx="6309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Kenya's informal / Jua Kali and MSE economy contributes an estimated 24–33% of GDP and the bulk of new jobs, but most craft artisans still lack a verified, direct digital storefront into tourist demand.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85800" y="4754880"/>
            <a:ext cx="128016" cy="128016"/>
          </a:xfrm>
          <a:prstGeom prst="ellipse">
            <a:avLst/>
          </a:prstGeom>
          <a:solidFill>
            <a:srgbClr val="C1502E"/>
          </a:solidFill>
          <a:ln w="12700">
            <a:solidFill>
              <a:srgbClr val="C150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562856"/>
            <a:ext cx="6309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Federation of Kenya Employers cites a 67% unemployment rate among Kenyans aged 15–34 — deep local knowledge sits idle instead of being monetized as guiding services.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818120" y="2286000"/>
            <a:ext cx="3749040" cy="3566160"/>
          </a:xfrm>
          <a:prstGeom prst="roundRect">
            <a:avLst>
              <a:gd name="adj" fmla="val 2564"/>
            </a:avLst>
          </a:prstGeom>
          <a:solidFill>
            <a:srgbClr val="1E3226"/>
          </a:solidFill>
          <a:ln w="12700">
            <a:solidFill>
              <a:srgbClr val="1E32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92440" y="248716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DATA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092440" y="2743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15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67%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8092440" y="361188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FKE figure for Kenyans aged 15–34 without adequate employment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92440" y="4434840"/>
            <a:ext cx="3200400" cy="0"/>
          </a:xfrm>
          <a:prstGeom prst="line">
            <a:avLst/>
          </a:prstGeom>
          <a:noFill/>
          <a:ln w="12700">
            <a:solidFill>
              <a:srgbClr val="3549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92440" y="457200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2.7M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092440" y="50749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in 2025, up 9% YoY; KES 0.5T tourism earnings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9893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Kenya Ministry of Tourism &amp; Wildlife / Magical Kenya Sector Performance 2025; Federation of Kenya Employers; FinAccess MSE Tracker / Daily Nation on informal GDP share (24–33%).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TRAVELS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808476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2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66928" cy="566928"/>
          </a:xfrm>
          <a:prstGeom prst="ellipse">
            <a:avLst/>
          </a:prstGeom>
          <a:solidFill>
            <a:srgbClr val="C1502E"/>
          </a:solidFill>
          <a:ln w="12700">
            <a:solidFill>
              <a:srgbClr val="C15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02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ED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71600" y="5943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881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ED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app: parks, stays, verified crafts and student guides — native to Kenya</a:t>
            </a:r>
            <a:endParaRPr lang="en-US" sz="2600" dirty="0"/>
          </a:p>
        </p:txBody>
      </p:sp>
      <p:pic>
        <p:nvPicPr>
          <p:cNvPr id="6" name="Image 0" descr="/workspace/assets/crafts/maasai-beads-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40280"/>
            <a:ext cx="2606040" cy="1737360"/>
          </a:xfrm>
          <a:prstGeom prst="rect">
            <a:avLst/>
          </a:prstGeom>
        </p:spPr>
      </p:pic>
      <p:pic>
        <p:nvPicPr>
          <p:cNvPr id="7" name="Image 1" descr="/workspace/assets/crafts/soapstone-tabak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2240280"/>
            <a:ext cx="2606040" cy="1737360"/>
          </a:xfrm>
          <a:prstGeom prst="rect">
            <a:avLst/>
          </a:prstGeom>
        </p:spPr>
      </p:pic>
      <p:pic>
        <p:nvPicPr>
          <p:cNvPr id="8" name="Image 2" descr="/workspace/assets/guides/tourists/maasai-mara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240280"/>
            <a:ext cx="2606040" cy="1737360"/>
          </a:xfrm>
          <a:prstGeom prst="rect">
            <a:avLst/>
          </a:prstGeom>
        </p:spPr>
      </p:pic>
      <p:pic>
        <p:nvPicPr>
          <p:cNvPr id="9" name="Image 3" descr="/workspace/assets/guides/students/s1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2240280"/>
            <a:ext cx="2606040" cy="173736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640080" y="406908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CRAFTS</a:t>
            </a:r>
            <a:endParaRPr lang="en-US" sz="1000" dirty="0"/>
          </a:p>
        </p:txBody>
      </p:sp>
      <p:sp>
        <p:nvSpPr>
          <p:cNvPr id="11" name="Text 5"/>
          <p:cNvSpPr/>
          <p:nvPr/>
        </p:nvSpPr>
        <p:spPr>
          <a:xfrm>
            <a:off x="640080" y="4315968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Maasai beadwork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3383280" y="406908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SHOPS</a:t>
            </a:r>
            <a:endParaRPr lang="en-US" sz="1000" dirty="0"/>
          </a:p>
        </p:txBody>
      </p:sp>
      <p:sp>
        <p:nvSpPr>
          <p:cNvPr id="13" name="Text 7"/>
          <p:cNvSpPr/>
          <p:nvPr/>
        </p:nvSpPr>
        <p:spPr>
          <a:xfrm>
            <a:off x="3383280" y="4315968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Tabaka soapstone</a:t>
            </a:r>
            <a:endParaRPr lang="en-US" sz="1200" dirty="0"/>
          </a:p>
        </p:txBody>
      </p:sp>
      <p:sp>
        <p:nvSpPr>
          <p:cNvPr id="14" name="Text 8"/>
          <p:cNvSpPr/>
          <p:nvPr/>
        </p:nvSpPr>
        <p:spPr>
          <a:xfrm>
            <a:off x="6126480" y="406908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PARKS &amp; PLACES</a:t>
            </a:r>
            <a:endParaRPr lang="en-US" sz="1000" dirty="0"/>
          </a:p>
        </p:txBody>
      </p:sp>
      <p:sp>
        <p:nvSpPr>
          <p:cNvPr id="15" name="Text 9"/>
          <p:cNvSpPr/>
          <p:nvPr/>
        </p:nvSpPr>
        <p:spPr>
          <a:xfrm>
            <a:off x="6126480" y="4315968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Maasai Mara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8869680" y="406908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GUIDES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8869680" y="4315968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Nairobi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640080" y="475488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map across 15 parks → unified travel &amp; stay booking → curated marketplace of 28 crafts tied to real shops and Google Maps pins, checked out with native M-Pesa STK Push → on-demand pairing with vetted university student guides. Built on Kenya's own payment rail (mobile money used by ~98% of mobile subscriptions, CA Kenya Dec 2025) instead of card-only global platforms.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TRAVELS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3808476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66928" cy="566928"/>
          </a:xfrm>
          <a:prstGeom prst="ellipse">
            <a:avLst/>
          </a:prstGeom>
          <a:solidFill>
            <a:srgbClr val="C1502E"/>
          </a:solidFill>
          <a:ln w="12700">
            <a:solidFill>
              <a:srgbClr val="C15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02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ED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71600" y="5943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ED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steps, one continuous journey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build today: an interactive map, integrated booking, a working M-Pesa checkout, and a guide roster — with Kenyan craft &amp; place photography throughout.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194560"/>
            <a:ext cx="2606040" cy="3657600"/>
          </a:xfrm>
          <a:prstGeom prst="roundRect">
            <a:avLst>
              <a:gd name="adj" fmla="val 3509"/>
            </a:avLst>
          </a:prstGeom>
          <a:solidFill>
            <a:srgbClr val="1E3226"/>
          </a:solidFill>
          <a:ln w="12700">
            <a:solidFill>
              <a:srgbClr val="1E3226"/>
            </a:solidFill>
            <a:prstDash val="solid"/>
          </a:ln>
        </p:spPr>
      </p:sp>
      <p:pic>
        <p:nvPicPr>
          <p:cNvPr id="8" name="Image 0" descr="/workspace/assets/guides/tourists/amboseli-elepha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304288"/>
            <a:ext cx="2386584" cy="12344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68680" y="3639312"/>
            <a:ext cx="411480" cy="41148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36393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4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371600" y="3675888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ED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416052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15 national parks &amp; destinations across Kenya and Africa on a live interactive map, with search and weather.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172968" y="3657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15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3461004" y="2194560"/>
            <a:ext cx="2606040" cy="3657600"/>
          </a:xfrm>
          <a:prstGeom prst="roundRect">
            <a:avLst>
              <a:gd name="adj" fmla="val 3509"/>
            </a:avLst>
          </a:prstGeom>
          <a:solidFill>
            <a:srgbClr val="1E3226"/>
          </a:solidFill>
          <a:ln w="12700">
            <a:solidFill>
              <a:srgbClr val="1E3226"/>
            </a:solidFill>
            <a:prstDash val="solid"/>
          </a:ln>
        </p:spPr>
      </p:sp>
      <p:pic>
        <p:nvPicPr>
          <p:cNvPr id="15" name="Image 1" descr="/workspace/assets/guides/tourists/nairobi-skylin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0732" y="2304288"/>
            <a:ext cx="2386584" cy="12344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689604" y="3639312"/>
            <a:ext cx="411480" cy="41148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689604" y="36393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4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4192524" y="3675888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ED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3643884" y="416052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travel and accommodation in the same flow — no separate app or tab.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5993892" y="3657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15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6281928" y="2194560"/>
            <a:ext cx="2606040" cy="3657600"/>
          </a:xfrm>
          <a:prstGeom prst="roundRect">
            <a:avLst>
              <a:gd name="adj" fmla="val 3509"/>
            </a:avLst>
          </a:prstGeom>
          <a:solidFill>
            <a:srgbClr val="1E3226"/>
          </a:solidFill>
          <a:ln w="12700">
            <a:solidFill>
              <a:srgbClr val="1E3226"/>
            </a:solidFill>
            <a:prstDash val="solid"/>
          </a:ln>
        </p:spPr>
      </p:sp>
      <p:pic>
        <p:nvPicPr>
          <p:cNvPr id="22" name="Image 2" descr="/workspace/assets/crafts/kazuri-1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2304288"/>
            <a:ext cx="2386584" cy="123444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510528" y="3639312"/>
            <a:ext cx="411480" cy="41148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6510528" y="36393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4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7013448" y="3675888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ED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Shop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64808" y="416052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an authentic craft from a named shop, e.g. Tabaka Soapstone Cooperative in Kisii, mapped on Google Maps.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8814816" y="3657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15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Shape 23"/>
          <p:cNvSpPr/>
          <p:nvPr/>
        </p:nvSpPr>
        <p:spPr>
          <a:xfrm>
            <a:off x="9102852" y="2194560"/>
            <a:ext cx="2606040" cy="3657600"/>
          </a:xfrm>
          <a:prstGeom prst="roundRect">
            <a:avLst>
              <a:gd name="adj" fmla="val 3509"/>
            </a:avLst>
          </a:prstGeom>
          <a:solidFill>
            <a:srgbClr val="1E3226"/>
          </a:solidFill>
          <a:ln w="12700">
            <a:solidFill>
              <a:srgbClr val="1E3226"/>
            </a:solidFill>
            <a:prstDash val="solid"/>
          </a:ln>
        </p:spPr>
      </p:sp>
      <p:pic>
        <p:nvPicPr>
          <p:cNvPr id="29" name="Image 3" descr="/workspace/assets/guides/students/s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2580" y="2304288"/>
            <a:ext cx="2386584" cy="123444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9331452" y="3639312"/>
            <a:ext cx="411480" cy="41148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9331452" y="36393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4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6"/>
          <p:cNvSpPr/>
          <p:nvPr/>
        </p:nvSpPr>
        <p:spPr>
          <a:xfrm>
            <a:off x="9834372" y="3675888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ED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</a:t>
            </a:r>
            <a:endParaRPr lang="en-US" sz="1500" dirty="0"/>
          </a:p>
        </p:txBody>
      </p:sp>
      <p:sp>
        <p:nvSpPr>
          <p:cNvPr id="33" name="Text 27"/>
          <p:cNvSpPr/>
          <p:nvPr/>
        </p:nvSpPr>
        <p:spPr>
          <a:xfrm>
            <a:off x="9285732" y="416052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instantly by M-Pesa STK Push, then pair with a vetted student guide from one of 12 Kenyan universities.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TRAVELS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3808476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900" dirty="0"/>
          </a:p>
        </p:txBody>
      </p:sp>
      <p:sp>
        <p:nvSpPr>
          <p:cNvPr id="36" name="Text 30"/>
          <p:cNvSpPr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2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66928" cy="566928"/>
          </a:xfrm>
          <a:prstGeom prst="ellipse">
            <a:avLst/>
          </a:prstGeom>
          <a:solidFill>
            <a:srgbClr val="C1502E"/>
          </a:solidFill>
          <a:ln w="12700">
            <a:solidFill>
              <a:srgbClr val="C15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02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ED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71600" y="5943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ED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Sizing the opportunity: TAM, SAM, SOM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6035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 — US$12.7B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532888"/>
            <a:ext cx="6035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WTTC reports Travel &amp; Tourism contributed US$12.7 billion to Kenya's economy in 2025 (9.3% of GDP) and supported 1.8 million jobs (8.3% of employment).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264408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WTTC Economic Impact Research 2025/26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3611880"/>
            <a:ext cx="6035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 — ~US$3.8B (KES 0.5T)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904488"/>
            <a:ext cx="6035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Government-reported direct tourism earnings of ~KES 0.5 trillion (~US$3.8B) from 7.9M visitors in 2025 (2.7M international + 5.2M domestic). Digitally reachable craft, guiding and local-booking spend sits inside this earnings base.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636008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Ministry of Tourism &amp; Wildlife / Magical Kenya 2025 Sector Performance Report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4983480"/>
            <a:ext cx="6035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 (3-yr, modeled) — US$45M GMV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5276088"/>
            <a:ext cx="6035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capture: ~1.2% of international visitor spend on crafts/experiences/guiding (~US$5.0B international spend per WTTC) flowing through Aurora by year 3 — a model to validate in the Nairobi + Maasai Mara pilot, not an achieved figure.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6007608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model grounded in WTTC international spend + Ministry arrivals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040880" y="2286000"/>
            <a:ext cx="4526280" cy="3794760"/>
          </a:xfrm>
          <a:prstGeom prst="roundRect">
            <a:avLst>
              <a:gd name="adj" fmla="val 2410"/>
            </a:avLst>
          </a:prstGeom>
          <a:solidFill>
            <a:srgbClr val="1E3226"/>
          </a:solidFill>
          <a:ln w="12700">
            <a:solidFill>
              <a:srgbClr val="1E3226"/>
            </a:solidFill>
            <a:prstDash val="solid"/>
          </a:ln>
        </p:spPr>
      </p:sp>
      <p:graphicFrame>
        <p:nvGraphicFramePr>
          <p:cNvPr id="16" name="Chart 0" descr=""/>
          <p:cNvGraphicFramePr/>
          <p:nvPr/>
        </p:nvGraphicFramePr>
        <p:xfrm>
          <a:off x="7269480" y="2514600"/>
          <a:ext cx="41148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TRAVELS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808476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2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66928" cy="566928"/>
          </a:xfrm>
          <a:prstGeom prst="ellipse">
            <a:avLst/>
          </a:prstGeom>
          <a:solidFill>
            <a:srgbClr val="C1502E"/>
          </a:solidFill>
          <a:ln w="12700">
            <a:solidFill>
              <a:srgbClr val="C15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02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ED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71600" y="5943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ED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Aurora Travels makes money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1E3226"/>
          </a:solidFill>
          <a:ln w="12700">
            <a:solidFill>
              <a:srgbClr val="1E32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56032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STREAMS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971800"/>
            <a:ext cx="3063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 average take-rate on craft GMV (below typical OTA bands); KES 500–800 guide-booking service fee per pairing; 8–10% referral commission on travel &amp; stay bookings; featured-placement fees for shops (KES 3,000–8,000/mo) and guides.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71416" y="233172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1E3226"/>
          </a:solidFill>
          <a:ln w="12700">
            <a:solidFill>
              <a:srgbClr val="1E32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45736" y="256032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45736" y="2971800"/>
            <a:ext cx="3063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catalogue prices run from KES 2,200 to KES 15,200 (~US$17–$118) across 28 crafts. Global tour OTAs commonly take 20–30% (Viator ~20–25% base; GetYourGuide 20–30%). Aurora undercuts that with M-Pesa-native checkout — no card gateway friction in a market where ~98% of mobile subscriptions use mobile money.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302752" y="233172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1E3226"/>
          </a:solidFill>
          <a:ln w="12700">
            <a:solidFill>
              <a:srgbClr val="1E32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7072" y="256032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577072" y="2971800"/>
            <a:ext cx="3063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CAC via university guide network and shops already mapped. At modeled Y3 GMV of US$45M and 11% blended take-rate → ~US$5.0M platform revenue. LTV compounds across repeat trips, multiple crafts and guide bookings.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59893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OTA commissions: SambaHQ / operator guides (Viator 20–30%, GetYourGuide 20–30%, Klook 15–25%). Mobile money: Communications Authority of Kenya (reported ~98% of mobile subscriptions by Dec 2025).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TRAVELS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808476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2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66928" cy="566928"/>
          </a:xfrm>
          <a:prstGeom prst="ellipse">
            <a:avLst/>
          </a:prstGeom>
          <a:solidFill>
            <a:srgbClr val="C1502E"/>
          </a:solidFill>
          <a:ln w="12700">
            <a:solidFill>
              <a:srgbClr val="C15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02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ED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71600" y="5943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VALIDATION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ED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already built — pre-launch, seeking pilot partners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1E3226"/>
          </a:solidFill>
          <a:ln w="12700">
            <a:solidFill>
              <a:srgbClr val="1E32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679192"/>
            <a:ext cx="1280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15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2240280" y="278892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crafts listed across 24+ named Kenyan shops (live catalogue KES 2,200–15,200)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26480" y="251460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1E3226"/>
          </a:solidFill>
          <a:ln w="12700">
            <a:solidFill>
              <a:srgbClr val="1E32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79192"/>
            <a:ext cx="1280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15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7726680" y="278892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parks &amp; destinations mapped, 10 in Kenya + 5 across Africa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3891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1E3226"/>
          </a:solidFill>
          <a:ln w="12700">
            <a:solidFill>
              <a:srgbClr val="1E32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553712"/>
            <a:ext cx="1280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15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2240280" y="466344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vetted student guides from 12 Kenyan universities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26480" y="43891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1E3226"/>
          </a:solidFill>
          <a:ln w="12700">
            <a:solidFill>
              <a:srgbClr val="1E32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4553712"/>
            <a:ext cx="1280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15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600" dirty="0"/>
          </a:p>
        </p:txBody>
      </p:sp>
      <p:sp>
        <p:nvSpPr>
          <p:cNvPr id="17" name="Text 15"/>
          <p:cNvSpPr/>
          <p:nvPr/>
        </p:nvSpPr>
        <p:spPr>
          <a:xfrm>
            <a:off x="7726680" y="466344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M-Pesa STK Push integration — live gateway, phone validation &amp; status polling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 reflects the current product build (auroratravels repository), not live user or revenue figures — those will be added post-pilot.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TRAVELS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808476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VALIDATION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2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66928" cy="566928"/>
          </a:xfrm>
          <a:prstGeom prst="ellipse">
            <a:avLst/>
          </a:prstGeom>
          <a:solidFill>
            <a:srgbClr val="C1502E"/>
          </a:solidFill>
          <a:ln w="12700">
            <a:solidFill>
              <a:srgbClr val="C15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02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ED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71600" y="5943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ED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Aurora Travels sits versus alternatives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822960" y="2377440"/>
            <a:ext cx="6949440" cy="3749040"/>
          </a:xfrm>
          <a:prstGeom prst="roundRect">
            <a:avLst>
              <a:gd name="adj" fmla="val 1463"/>
            </a:avLst>
          </a:prstGeom>
          <a:solidFill>
            <a:srgbClr val="1E3226"/>
          </a:solidFill>
          <a:ln w="12700">
            <a:solidFill>
              <a:srgbClr val="1E322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8720" y="5760720"/>
            <a:ext cx="6309360" cy="0"/>
          </a:xfrm>
          <a:prstGeom prst="line">
            <a:avLst/>
          </a:prstGeom>
          <a:noFill/>
          <a:ln w="19050">
            <a:solidFill>
              <a:srgbClr val="35493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651760"/>
            <a:ext cx="0" cy="3108960"/>
          </a:xfrm>
          <a:prstGeom prst="line">
            <a:avLst/>
          </a:prstGeom>
          <a:noFill/>
          <a:ln w="19050">
            <a:solidFill>
              <a:srgbClr val="3549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4231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Breadth of Kenya travel experience ↑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371600" y="583387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Kenya-native payments &amp; verified local shops/guides →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560320" y="4023360"/>
            <a:ext cx="548640" cy="548640"/>
          </a:xfrm>
          <a:prstGeom prst="ellipse">
            <a:avLst/>
          </a:prstGeom>
          <a:solidFill>
            <a:srgbClr val="8FAE93"/>
          </a:solidFill>
          <a:ln w="12700">
            <a:solidFill>
              <a:srgbClr val="8FAE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455371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SafariBookings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(lead-gen only)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80560" y="3291840"/>
            <a:ext cx="548640" cy="548640"/>
          </a:xfrm>
          <a:prstGeom prst="ellipse">
            <a:avLst/>
          </a:prstGeom>
          <a:solidFill>
            <a:srgbClr val="8FAE93"/>
          </a:solidFill>
          <a:ln w="12700">
            <a:solidFill>
              <a:srgbClr val="8FAE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0" y="382219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OTAs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(Viator/GYG/Klook)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103120" y="5303520"/>
            <a:ext cx="548640" cy="548640"/>
          </a:xfrm>
          <a:prstGeom prst="ellipse">
            <a:avLst/>
          </a:prstGeom>
          <a:solidFill>
            <a:srgbClr val="8FAE93"/>
          </a:solidFill>
          <a:ln w="12700">
            <a:solidFill>
              <a:srgbClr val="8FAE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0" y="583387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Informal curio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markets &amp; fixers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95060" y="2674620"/>
            <a:ext cx="777240" cy="777240"/>
          </a:xfrm>
          <a:prstGeom prst="ellipse">
            <a:avLst/>
          </a:prstGeom>
          <a:solidFill>
            <a:srgbClr val="C1502E"/>
          </a:solidFill>
          <a:ln w="12700">
            <a:solidFill>
              <a:srgbClr val="C150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77840" y="343357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Travels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001000" y="2377440"/>
            <a:ext cx="3566160" cy="3749040"/>
          </a:xfrm>
          <a:prstGeom prst="roundRect">
            <a:avLst>
              <a:gd name="adj" fmla="val 2564"/>
            </a:avLst>
          </a:prstGeom>
          <a:solidFill>
            <a:srgbClr val="24392B"/>
          </a:solidFill>
          <a:ln w="12700">
            <a:solidFill>
              <a:srgbClr val="2439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0" y="2606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ADVANTAGE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229600" y="2926080"/>
            <a:ext cx="3108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OTAs charge 20–30% commission and don't touch M-Pesa or named artisan shops. Aurora does both, natively — in a market where mobile money reaches ~98% of mobile subscriptions.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0" y="4526280"/>
            <a:ext cx="3108960" cy="0"/>
          </a:xfrm>
          <a:prstGeom prst="line">
            <a:avLst/>
          </a:prstGeom>
          <a:noFill/>
          <a:ln w="12700">
            <a:solidFill>
              <a:srgbClr val="3549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466344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SafariBookings aggregates operator tours but does not process payment or sell crafts/guides directly. Viator, GetYourGuide and Klook are card-first and generic across countries.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SafariBookings listings; SambaHQ / operator commission guides for Viator, GetYourGuide, Klook; CA Kenya mobile-money penetration.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TRAVELS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808476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66928" cy="566928"/>
          </a:xfrm>
          <a:prstGeom prst="ellipse">
            <a:avLst/>
          </a:prstGeom>
          <a:solidFill>
            <a:srgbClr val="C1502E"/>
          </a:solidFill>
          <a:ln w="12700">
            <a:solidFill>
              <a:srgbClr val="C15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02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ED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71600" y="5943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 STRATEGY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ED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Aurora Travels acquires and scales users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1E3226"/>
          </a:solidFill>
          <a:ln w="12700">
            <a:solidFill>
              <a:srgbClr val="1E32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56032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 — Launch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3017520"/>
            <a:ext cx="3063240" cy="2697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Nairobi and the Maasai Mara gateway (Narok). Onboard shop partners already mapped — Maasai Market Nairobi, Tabaka Soapstone (Kisii), Wamunyu Carvers (Machakos), Kazuri Beads — and the first guide cohort from partner universities. Target: 40 shops, 40 guides, first 5,000 paid transactions.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71416" y="233172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1E3226"/>
          </a:solidFill>
          <a:ln w="12700">
            <a:solidFill>
              <a:srgbClr val="1E32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45736" y="256032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 — Scale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45736" y="3017520"/>
            <a:ext cx="3063240" cy="2697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across more of Kenya's 47 counties toward the government's 2027 ambition of 5.5M international arrivals and KES 1T tourism earnings. Prioritise 2025 top source markets: United States, Uganda, Tanzania and the United Kingdom (Ministry report).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302752" y="233172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1E3226"/>
          </a:solidFill>
          <a:ln w="12700">
            <a:solidFill>
              <a:srgbClr val="1E32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7072" y="256032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3 — Sustain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577072" y="3017520"/>
            <a:ext cx="3063240" cy="2697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into the shared East African safari circuit (Tanzania, Uganda) that Aurora's park map already spans — the Great Rift / Mara–Serengeti ecosystem — with cross-border M-Pesa and craft corridors.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Kenya Ministry of Tourism &amp; Wildlife 2025 Sector Performance Report (arrivals mix &amp; source markets); government / Senate coverage of 2027 visitor &amp; earnings targets.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TRAVELS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808476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 STRATEGY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66928" cy="566928"/>
          </a:xfrm>
          <a:prstGeom prst="ellipse">
            <a:avLst/>
          </a:prstGeom>
          <a:solidFill>
            <a:srgbClr val="C1502E"/>
          </a:solidFill>
          <a:ln w="12700">
            <a:solidFill>
              <a:srgbClr val="C15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02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ED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71600" y="5943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ED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team can build it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5120640" cy="3566160"/>
          </a:xfrm>
          <a:prstGeom prst="roundRect">
            <a:avLst>
              <a:gd name="adj" fmla="val 2564"/>
            </a:avLst>
          </a:prstGeom>
          <a:solidFill>
            <a:srgbClr val="1E3226"/>
          </a:solidFill>
          <a:ln w="12700">
            <a:solidFill>
              <a:srgbClr val="1E322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2697480"/>
            <a:ext cx="1051560" cy="1051560"/>
          </a:xfrm>
          <a:prstGeom prst="ellipse">
            <a:avLst/>
          </a:prstGeom>
          <a:solidFill>
            <a:srgbClr val="C1502E"/>
          </a:solidFill>
          <a:ln w="12700">
            <a:solidFill>
              <a:srgbClr val="C150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69748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4ED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194560" y="27432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ED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ProximaOpal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194560" y="312724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Full-Stack Product Engineer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60120" y="4069080"/>
            <a:ext cx="44805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developer and UI/UX designer based in Nairobi, building for the Kenyan digital ecosystem — AI automation (n8n), voice agents (ElevenLabs), and end-to-end web products. Designed, built and shipped Aurora Travels solo: the frontend, interactive maps, craft marketplace and the live M-Pesa STK Push integration.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89320" y="2331720"/>
            <a:ext cx="5577840" cy="3566160"/>
          </a:xfrm>
          <a:prstGeom prst="roundRect">
            <a:avLst>
              <a:gd name="adj" fmla="val 2564"/>
            </a:avLst>
          </a:prstGeom>
          <a:solidFill>
            <a:srgbClr val="24392B"/>
          </a:solidFill>
          <a:ln w="12700">
            <a:solidFill>
              <a:srgbClr val="24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63640" y="2560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TEAM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09360" y="3108960"/>
            <a:ext cx="118872" cy="118872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292608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tourism &amp; hospitality partnerships lead — to formalize shop, park and guide agreements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3977640"/>
            <a:ext cx="118872" cy="118872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379476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Artisan network coordinator — to onboard and verify craft shops county by county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309360" y="4846320"/>
            <a:ext cx="118872" cy="118872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466344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/ GTM support — to run the Nairobi + Maasai Mara pilot launch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TRAVELS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808476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66928" cy="566928"/>
          </a:xfrm>
          <a:prstGeom prst="ellipse">
            <a:avLst/>
          </a:prstGeom>
          <a:solidFill>
            <a:srgbClr val="C1502E"/>
          </a:solidFill>
          <a:ln w="12700">
            <a:solidFill>
              <a:srgbClr val="C15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02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ED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71600" y="5943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&amp; THE ASK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ED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Aurora Travels needs, and what it enables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5120640" cy="3566160"/>
          </a:xfrm>
          <a:prstGeom prst="roundRect">
            <a:avLst>
              <a:gd name="adj" fmla="val 2564"/>
            </a:avLst>
          </a:prstGeom>
          <a:solidFill>
            <a:srgbClr val="1E3226"/>
          </a:solidFill>
          <a:ln w="12700">
            <a:solidFill>
              <a:srgbClr val="1E32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560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/ PARTNERSHIP CAPITAL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288036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15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US$180,000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914400" y="338328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KES 23.4 million (at ~130 KES/USD) — 18-month Nairobi + Maasai Mara pilot. Open to grant, equity, in-kind tourism partnerships, or blended support.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4069080"/>
            <a:ext cx="4572000" cy="0"/>
          </a:xfrm>
          <a:prstGeom prst="line">
            <a:avLst/>
          </a:prstGeom>
          <a:noFill/>
          <a:ln w="12700">
            <a:solidFill>
              <a:srgbClr val="3549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16052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60120" y="4562856"/>
            <a:ext cx="109728" cy="109728"/>
          </a:xfrm>
          <a:prstGeom prst="ellipse">
            <a:avLst/>
          </a:prstGeom>
          <a:solidFill>
            <a:srgbClr val="C1502E"/>
          </a:solidFill>
          <a:ln w="12700">
            <a:solidFill>
              <a:srgbClr val="C150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0" y="443484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engineering — 40% (US$72,000)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60120" y="4928616"/>
            <a:ext cx="109728" cy="109728"/>
          </a:xfrm>
          <a:prstGeom prst="ellipse">
            <a:avLst/>
          </a:prstGeom>
          <a:solidFill>
            <a:srgbClr val="C1502E"/>
          </a:solidFill>
          <a:ln w="12700">
            <a:solidFill>
              <a:srgbClr val="C150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48006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Artisan &amp; guide network growth — 35% (US$63,000)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60120" y="5294376"/>
            <a:ext cx="109728" cy="109728"/>
          </a:xfrm>
          <a:prstGeom prst="ellipse">
            <a:avLst/>
          </a:prstGeom>
          <a:solidFill>
            <a:srgbClr val="C1502E"/>
          </a:solidFill>
          <a:ln w="12700">
            <a:solidFill>
              <a:srgbClr val="C150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516636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&amp; pilot launch — 25% (US$45,000)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89320" y="2331720"/>
            <a:ext cx="5577840" cy="3566160"/>
          </a:xfrm>
          <a:prstGeom prst="roundRect">
            <a:avLst>
              <a:gd name="adj" fmla="val 2564"/>
            </a:avLst>
          </a:prstGeom>
          <a:solidFill>
            <a:srgbClr val="24392B"/>
          </a:solidFill>
          <a:ln w="12700">
            <a:solidFill>
              <a:srgbClr val="24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63640" y="2514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 PARTNERS ONBOARDED (18–24 MO MODEL)</a:t>
            </a:r>
            <a:endParaRPr lang="en-US" sz="105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6263640" y="2880360"/>
          <a:ext cx="502920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63640" y="53492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E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Y3 modeled platform revenue ~US$5.0M at 11% blended take on US$45M GMV.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amount and use-of-funds split are founder-proposed for an 18-month pilot. Growth curve and Y3 revenue are modeled — not achieved. FX illustrative at 130 KES/USD.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TRAVELS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808476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&amp; THE ASK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B2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Travels — Pitch Deck</dc:title>
  <dc:subject>Kenya travel, crafts &amp; student guides</dc:subject>
  <dc:creator>ProximaOpal / Aurora Travels</dc:creator>
  <cp:lastModifiedBy>ProximaOpal / Aurora Travels</cp:lastModifiedBy>
  <cp:revision>1</cp:revision>
  <dcterms:created xsi:type="dcterms:W3CDTF">2026-07-21T13:18:09Z</dcterms:created>
  <dcterms:modified xsi:type="dcterms:W3CDTF">2026-07-21T13:18:09Z</dcterms:modified>
</cp:coreProperties>
</file>