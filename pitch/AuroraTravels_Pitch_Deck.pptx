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5143500" cx="9144000"/>
  <p:notesSz cx="6858000" cy="9144000"/>
  <p:embeddedFontLst>
    <p:embeddedFont>
      <p:font typeface="Nunito"/>
      <p:regular r:id="rId18"/>
      <p:bold r:id="rId19"/>
      <p:italic r:id="rId20"/>
      <p:boldItalic r:id="rId21"/>
    </p:embeddedFont>
    <p:embeddedFont>
      <p:font typeface="Google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font" Target="fonts/Nunito-regular.fntdata"/><Relationship Id="rId19" Type="http://schemas.openxmlformats.org/officeDocument/2006/relationships/font" Target="fonts/Nunito-bold.fntdata"/><Relationship Id="rId20" Type="http://schemas.openxmlformats.org/officeDocument/2006/relationships/font" Target="fonts/Nunito-italic.fntdata"/><Relationship Id="rId21" Type="http://schemas.openxmlformats.org/officeDocument/2006/relationships/font" Target="fonts/Nunito-boldItalic.fntdata"/><Relationship Id="rId22" Type="http://schemas.openxmlformats.org/officeDocument/2006/relationships/font" Target="fonts/GoogleSans-regular.fntdata"/><Relationship Id="rId23" Type="http://schemas.openxmlformats.org/officeDocument/2006/relationships/font" Target="fonts/GoogleSans-bold.fntdata"/><Relationship Id="rId24" Type="http://schemas.openxmlformats.org/officeDocument/2006/relationships/font" Target="fonts/GoogleSans-italic.fntdata"/><Relationship Id="rId25" Type="http://schemas.openxmlformats.org/officeDocument/2006/relationships/font" Target="fonts/GoogleSans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f56e95d58f_2_2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" name="Google Shape;54;g3f56e95d58f_2_2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g3f56e95d58f_2_2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f56e95d58f_2_13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5" name="Google Shape;65;g3f56e95d58f_2_13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g3f56e95d58f_2_13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f56e95d58f_2_28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1" name="Google Shape;81;g3f56e95d58f_2_28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g3f56e95d58f_2_28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f56e95d58f_2_51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5" name="Google Shape;105;g3f56e95d58f_2_51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g3f56e95d58f_2_51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f56e95d58f_2_79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4" name="Google Shape;134;g3f56e95d58f_2_79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g3f56e95d58f_2_79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f56e95d58f_2_93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9" name="Google Shape;149;g3f56e95d58f_2_93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g3f56e95d58f_2_93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f56e95d58f_2_116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3" name="Google Shape;173;g3f56e95d58f_2_116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g3f56e95d58f_2_116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f56e95d58f_2_139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7" name="Google Shape;197;g3f56e95d58f_2_139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g3f56e95d58f_2_139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f56e95d58f_2_163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2" name="Google Shape;222;g3f56e95d58f_2_163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g3f56e95d58f_2_163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f56e95d58f_2_186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6" name="Google Shape;246;g3f56e95d58f_2_186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g3f56e95d58f_2_186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f56e95d58f_2_216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7" name="Google Shape;277;g3f56e95d58f_2_216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g3f56e95d58f_2_216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/>
          <p:nvPr/>
        </p:nvSpPr>
        <p:spPr>
          <a:xfrm>
            <a:off x="0" y="4217670"/>
            <a:ext cx="9141714" cy="41148"/>
          </a:xfrm>
          <a:prstGeom prst="rect">
            <a:avLst/>
          </a:prstGeom>
          <a:solidFill>
            <a:srgbClr val="028F35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rgbClr val="141414"/>
                </a:solidFill>
              </a:rPr>
              <a:t/>
            </a:r>
            <a:endParaRPr/>
          </a:p>
        </p:txBody>
      </p:sp>
      <p:sp>
        <p:nvSpPr>
          <p:cNvPr id="58" name="Google Shape;58;p15"/>
          <p:cNvSpPr/>
          <p:nvPr/>
        </p:nvSpPr>
        <p:spPr>
          <a:xfrm>
            <a:off x="617220" y="1579533"/>
            <a:ext cx="7886700" cy="617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323"/>
              </a:buClr>
              <a:buSzPts val="3000"/>
              <a:buFont typeface="Arial"/>
              <a:buNone/>
            </a:pPr>
            <a:r>
              <a:rPr b="1" i="0" lang="en" sz="3000" u="none" cap="none" strike="noStrike">
                <a:solidFill>
                  <a:srgbClr val="141414"/>
                </a:solidFill>
                <a:latin typeface="Google Sans"/>
                <a:ea typeface="Google Sans"/>
                <a:cs typeface="Google Sans"/>
                <a:sym typeface="Google Sans"/>
              </a:rPr>
              <a:t>AURORA TRAVELS</a:t>
            </a:r>
            <a:endParaRPr i="0" sz="3000" u="none" cap="none" strike="noStrik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9" name="Google Shape;59;p15"/>
          <p:cNvSpPr/>
          <p:nvPr/>
        </p:nvSpPr>
        <p:spPr>
          <a:xfrm>
            <a:off x="640080" y="2075642"/>
            <a:ext cx="78867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41813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41414"/>
                </a:solidFill>
                <a:latin typeface="Google Sans"/>
                <a:ea typeface="Google Sans"/>
                <a:cs typeface="Google Sans"/>
                <a:sym typeface="Google Sans"/>
              </a:rPr>
              <a:t>Afrihealth Innovation Challenge 2026</a:t>
            </a:r>
            <a:endParaRPr i="0" sz="1100" u="none" cap="none" strike="noStrik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0" name="Google Shape;60;p15"/>
          <p:cNvSpPr/>
          <p:nvPr/>
        </p:nvSpPr>
        <p:spPr>
          <a:xfrm>
            <a:off x="1645926" y="3134425"/>
            <a:ext cx="67803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573"/>
              </a:buClr>
              <a:buSzPts val="900"/>
              <a:buFont typeface="Arial"/>
              <a:buNone/>
            </a:pPr>
            <a:r>
              <a:rPr b="1" i="1" lang="en" sz="1000" u="none" cap="none" strike="noStrike">
                <a:solidFill>
                  <a:srgbClr val="141414"/>
                </a:solidFill>
                <a:latin typeface="Google Sans"/>
                <a:ea typeface="Google Sans"/>
                <a:cs typeface="Google Sans"/>
                <a:sym typeface="Google Sans"/>
              </a:rPr>
              <a:t>KENYA · TRAVEL · CULTURE · COMMERCE</a:t>
            </a:r>
            <a:endParaRPr b="1" i="0" sz="1000" u="none" cap="none" strike="noStrik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r>
              <a:rPr b="1">
                <a:solidFill>
                  <a:srgbClr val="141414"/>
                </a:solidFill>
              </a:rPr>
              <a:t>A single, Kenya-native app for parks, stays, verified crafts and student guides — pitched for partnership and investment.</a:t>
            </a:r>
          </a:p>
          <a:p>
            <a:r>
              <a:rPr b="1">
                <a:solidFill>
                  <a:srgbClr val="141414"/>
                </a:solidFill>
              </a:rPr>
              <a:t>Discover 15 parks · Shop 28 verified crafts · Pay with native M-Pesa STK Push · Connect 12 university guides</a:t>
            </a:r>
          </a:p>
          <a:p>
            <a:r>
              <a:rPr b="1">
                <a:solidFill>
                  <a:srgbClr val="141414"/>
                </a:solidFill>
              </a:rPr>
              <a:t>Built in Nairobi by ProximaOpal — web &amp; AI product engineer · auroratravels</a:t>
            </a:r>
          </a:p>
        </p:txBody>
      </p:sp>
      <p:pic>
        <p:nvPicPr>
          <p:cNvPr descr="footer.png" id="61" name="Google Shape;6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07100" y="4720636"/>
            <a:ext cx="4526280" cy="282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.png" id="62" name="Google Shape;6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8610" y="240030"/>
            <a:ext cx="1062990" cy="4357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.png" id="68" name="Google Shape;6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8610" y="240030"/>
            <a:ext cx="1062990" cy="4357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png" id="69" name="Google Shape;69;p16"/>
          <p:cNvPicPr preferRelativeResize="0"/>
          <p:nvPr/>
        </p:nvPicPr>
        <p:blipFill rotWithShape="1">
          <a:blip r:embed="rId4">
            <a:alphaModFix amt="22000"/>
          </a:blip>
          <a:srcRect b="0" l="0" r="0" t="0"/>
          <a:stretch/>
        </p:blipFill>
        <p:spPr>
          <a:xfrm>
            <a:off x="2719197" y="1559364"/>
            <a:ext cx="3703320" cy="22305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oter.png" id="70" name="Google Shape;70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307717" y="4709899"/>
            <a:ext cx="4526280" cy="282725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6"/>
          <p:cNvSpPr/>
          <p:nvPr/>
        </p:nvSpPr>
        <p:spPr>
          <a:xfrm>
            <a:off x="8215884" y="240030"/>
            <a:ext cx="4114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28F35"/>
              </a:buClr>
              <a:buSzPts val="1700"/>
              <a:buFont typeface="Arial"/>
              <a:buNone/>
            </a:pPr>
            <a:r>
              <a:rPr b="1" lang="en" sz="1700">
                <a:solidFill>
                  <a:srgbClr val="141414"/>
                </a:solidFill>
                <a:latin typeface="Google Sans"/>
                <a:ea typeface="Google Sans"/>
                <a:cs typeface="Google Sans"/>
                <a:sym typeface="Google Sans"/>
              </a:rPr>
              <a:t>01</a:t>
            </a:r>
            <a:endParaRPr sz="17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72" name="Google Shape;72;p16"/>
          <p:cNvSpPr/>
          <p:nvPr/>
        </p:nvSpPr>
        <p:spPr>
          <a:xfrm>
            <a:off x="6672834" y="548640"/>
            <a:ext cx="195453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573"/>
              </a:buClr>
              <a:buSzPts val="800"/>
              <a:buFont typeface="Arial"/>
              <a:buNone/>
            </a:pPr>
            <a:r>
              <a:rPr b="1" lang="en" sz="1000">
                <a:solidFill>
                  <a:srgbClr val="141414"/>
                </a:solidFill>
                <a:latin typeface="Google Sans"/>
                <a:ea typeface="Google Sans"/>
                <a:cs typeface="Google Sans"/>
                <a:sym typeface="Google Sans"/>
              </a:rPr>
              <a:t>THE PROBLEM</a:t>
            </a:r>
            <a:endParaRPr sz="8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73" name="Google Shape;73;p16"/>
          <p:cNvSpPr/>
          <p:nvPr/>
        </p:nvSpPr>
        <p:spPr>
          <a:xfrm>
            <a:off x="308610" y="1062990"/>
            <a:ext cx="6515100" cy="5829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23"/>
              </a:buClr>
              <a:buSzPts val="2400"/>
              <a:buFont typeface="Arial"/>
              <a:buNone/>
            </a:pPr>
            <a:r>
              <a:rPr b="1" lang="en" sz="2400">
                <a:solidFill>
                  <a:srgbClr val="141414"/>
                </a:solidFill>
                <a:latin typeface="Google Sans"/>
                <a:ea typeface="Google Sans"/>
                <a:cs typeface="Google Sans"/>
                <a:sym typeface="Google Sans"/>
              </a:rPr>
              <a:t>Problem Statement</a:t>
            </a:r>
            <a:endParaRPr sz="24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74" name="Google Shape;74;p16"/>
          <p:cNvSpPr/>
          <p:nvPr/>
        </p:nvSpPr>
        <p:spPr>
          <a:xfrm>
            <a:off x="308610" y="1591056"/>
            <a:ext cx="67208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F35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141414"/>
                </a:solidFill>
                <a:latin typeface="Nunito"/>
                <a:ea typeface="Nunito"/>
                <a:cs typeface="Nunito"/>
                <a:sym typeface="Nunito"/>
              </a:rPr>
              <a:t>Kenya's travel experience is fragmented — and its creative economy is invisible online</a:t>
            </a:r>
            <a:endParaRPr sz="11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5" name="Google Shape;75;p16"/>
          <p:cNvSpPr/>
          <p:nvPr/>
        </p:nvSpPr>
        <p:spPr>
          <a:xfrm>
            <a:off x="308610" y="2023110"/>
            <a:ext cx="5212080" cy="2331720"/>
          </a:xfrm>
          <a:prstGeom prst="roundRect">
            <a:avLst>
              <a:gd fmla="val 2353" name="adj"/>
            </a:avLst>
          </a:prstGeom>
          <a:solidFill>
            <a:srgbClr val="F7F9F8"/>
          </a:solidFill>
          <a:ln cap="flat" cmpd="sng" w="12700">
            <a:solidFill>
              <a:srgbClr val="DCE3E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rgbClr val="141414"/>
                </a:solidFill>
              </a:rPr>
              <a:t/>
            </a:r>
            <a:endParaRPr/>
          </a:p>
        </p:txBody>
      </p:sp>
      <p:sp>
        <p:nvSpPr>
          <p:cNvPr id="76" name="Google Shape;76;p16"/>
          <p:cNvSpPr/>
          <p:nvPr/>
        </p:nvSpPr>
        <p:spPr>
          <a:xfrm>
            <a:off x="480060" y="2160270"/>
            <a:ext cx="486918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573"/>
              </a:buClr>
              <a:buSzPts val="1000"/>
              <a:buFont typeface="Arial"/>
              <a:buNone/>
            </a:pPr>
            <a:r>
              <a:rPr i="1" lang="en" sz="1000" b="1">
                <a:solidFill>
                  <a:srgbClr val="141414"/>
                </a:solidFill>
                <a:latin typeface="Nunito"/>
                <a:ea typeface="Nunito"/>
                <a:cs typeface="Nunito"/>
                <a:sym typeface="Nunito"/>
              </a:rPr>
              <a:t>• International arrivals rose 9% year-on-year to 2.7 million in 2025 (from 2.47M in 2024), with 5.2M domestic trips — 7.9M total visitors — yet travelers still stitch together separate tools for parks, stays, curio shopping and guides, mostly through commission-heavy foreign booking platforms.</a:t>
            </a:r>
            <a:endParaRPr sz="1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rPr b="1">
                <a:solidFill>
                  <a:srgbClr val="141414"/>
                </a:solidFill>
              </a:rPr>
              <a:t>• Kenya's informal / Jua Kali and MSE economy contributes an estimated 24–33% of GDP and the bulk of new jobs, but most craft artisans still lack a verified, direct digital storefront into tourist demand.</a:t>
            </a:r>
            <a:endParaRPr sz="1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573"/>
              </a:buClr>
              <a:buSzPts val="1000"/>
              <a:buFont typeface="Arial"/>
              <a:buNone/>
            </a:pPr>
            <a:r>
              <a:rPr i="1" lang="en" sz="1000" b="1">
                <a:solidFill>
                  <a:srgbClr val="141414"/>
                </a:solidFill>
                <a:latin typeface="Nunito"/>
                <a:ea typeface="Nunito"/>
                <a:cs typeface="Nunito"/>
                <a:sym typeface="Nunito"/>
              </a:rPr>
              <a:t>• Federation of Kenya Employers cites a 67% unemployment rate among Kenyans aged 15–34 — deep local knowledge sits idle instead of being monetized as guiding services.</a:t>
            </a:r>
            <a:endParaRPr sz="1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rPr b="1">
                <a:solidFill>
                  <a:srgbClr val="141414"/>
                </a:solidFill>
              </a:rPr>
              <a:t/>
            </a:r>
            <a:endParaRPr sz="1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573"/>
              </a:buClr>
              <a:buSzPts val="1000"/>
              <a:buFont typeface="Arial"/>
              <a:buNone/>
            </a:pPr>
            <a:r>
              <a:rPr i="1" lang="en" sz="1000" b="1">
                <a:solidFill>
                  <a:srgbClr val="141414"/>
                </a:solidFill>
                <a:latin typeface="Nunito"/>
                <a:ea typeface="Nunito"/>
                <a:cs typeface="Nunito"/>
                <a:sym typeface="Nunito"/>
              </a:rPr>
              <a:t/>
            </a:r>
            <a:endParaRPr sz="1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rPr b="1">
                <a:solidFill>
                  <a:srgbClr val="141414"/>
                </a:solidFill>
              </a:rPr>
              <a:t/>
            </a:r>
            <a:endParaRPr sz="1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573"/>
              </a:buClr>
              <a:buSzPts val="1000"/>
              <a:buFont typeface="Arial"/>
              <a:buNone/>
            </a:pPr>
            <a:r>
              <a:rPr i="1" lang="en" sz="1000" b="1">
                <a:solidFill>
                  <a:srgbClr val="141414"/>
                </a:solidFill>
                <a:latin typeface="Nunito"/>
                <a:ea typeface="Nunito"/>
                <a:cs typeface="Nunito"/>
                <a:sym typeface="Nunito"/>
              </a:rPr>
              <a:t/>
            </a:r>
            <a:endParaRPr sz="1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7" name="Google Shape;77;p16"/>
          <p:cNvSpPr/>
          <p:nvPr/>
        </p:nvSpPr>
        <p:spPr>
          <a:xfrm>
            <a:off x="5692140" y="2023110"/>
            <a:ext cx="3120390" cy="2331720"/>
          </a:xfrm>
          <a:prstGeom prst="roundRect">
            <a:avLst>
              <a:gd fmla="val 2353" name="adj"/>
            </a:avLst>
          </a:prstGeom>
          <a:solidFill>
            <a:srgbClr val="FDECEB"/>
          </a:solidFill>
          <a:ln cap="flat" cmpd="sng" w="12700">
            <a:solidFill>
              <a:srgbClr val="DCE3E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rgbClr val="141414"/>
                </a:solidFill>
              </a:rPr>
              <a:t/>
            </a:r>
            <a:endParaRPr/>
          </a:p>
        </p:txBody>
      </p:sp>
      <p:sp>
        <p:nvSpPr>
          <p:cNvPr id="78" name="Google Shape;78;p16"/>
          <p:cNvSpPr/>
          <p:nvPr/>
        </p:nvSpPr>
        <p:spPr>
          <a:xfrm>
            <a:off x="5863590" y="2160270"/>
            <a:ext cx="277749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573"/>
              </a:buClr>
              <a:buSzPts val="1000"/>
              <a:buFont typeface="Arial"/>
              <a:buNone/>
            </a:pPr>
            <a:r>
              <a:rPr i="1" lang="en" sz="1000" b="1">
                <a:solidFill>
                  <a:srgbClr val="141414"/>
                </a:solidFill>
                <a:latin typeface="Nunito"/>
                <a:ea typeface="Nunito"/>
                <a:cs typeface="Nunito"/>
                <a:sym typeface="Nunito"/>
              </a:rPr>
              <a:t>Supporting data point</a:t>
            </a:r>
            <a:endParaRPr sz="1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rPr b="1">
                <a:solidFill>
                  <a:srgbClr val="141414"/>
                </a:solidFill>
              </a:rPr>
              <a:t>67% — FKE figure for Kenyans aged 15–34 without adequate employment</a:t>
            </a:r>
            <a:endParaRPr sz="1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573"/>
              </a:buClr>
              <a:buSzPts val="1000"/>
              <a:buFont typeface="Arial"/>
              <a:buNone/>
            </a:pPr>
            <a:r>
              <a:rPr i="1" lang="en" sz="1000" b="1">
                <a:solidFill>
                  <a:srgbClr val="141414"/>
                </a:solidFill>
                <a:latin typeface="Nunito"/>
                <a:ea typeface="Nunito"/>
                <a:cs typeface="Nunito"/>
                <a:sym typeface="Nunito"/>
              </a:rPr>
              <a:t>2.7M international arrivals in 2025, up 9% YoY; KES 0.5T tourism earnings</a:t>
            </a:r>
            <a:endParaRPr sz="1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573"/>
              </a:buClr>
              <a:buSzPts val="1000"/>
              <a:buFont typeface="Arial"/>
              <a:buNone/>
            </a:pPr>
            <a:r>
              <a:rPr i="1" lang="en" sz="1000" b="1">
                <a:solidFill>
                  <a:srgbClr val="141414"/>
                </a:solidFill>
                <a:latin typeface="Nunito"/>
                <a:ea typeface="Nunito"/>
                <a:cs typeface="Nunito"/>
                <a:sym typeface="Nunito"/>
              </a:rPr>
              <a:t>Sources: Kenya Ministry of Tourism &amp; Wildlife / Magical Kenya 2025; FKE; FinAccess / Daily Nation on informal GDP share (24–33%).</a:t>
            </a:r>
            <a:endParaRPr sz="1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573"/>
              </a:buClr>
              <a:buSzPts val="1000"/>
              <a:buFont typeface="Arial"/>
              <a:buNone/>
            </a:pPr>
            <a:r>
              <a:rPr i="1" lang="en" sz="1000" b="1">
                <a:solidFill>
                  <a:srgbClr val="141414"/>
                </a:solidFill>
                <a:latin typeface="Nunito"/>
                <a:ea typeface="Nunito"/>
                <a:cs typeface="Nunito"/>
                <a:sym typeface="Nunito"/>
              </a:rPr>
              <a:t/>
            </a:r>
            <a:endParaRPr sz="1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.png" id="84" name="Google Shape;8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8610" y="240030"/>
            <a:ext cx="1062990" cy="4357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png" id="85" name="Google Shape;85;p17"/>
          <p:cNvPicPr preferRelativeResize="0"/>
          <p:nvPr/>
        </p:nvPicPr>
        <p:blipFill rotWithShape="1">
          <a:blip r:embed="rId4">
            <a:alphaModFix amt="22000"/>
          </a:blip>
          <a:srcRect b="0" l="0" r="0" t="0"/>
          <a:stretch/>
        </p:blipFill>
        <p:spPr>
          <a:xfrm>
            <a:off x="2719197" y="1559364"/>
            <a:ext cx="3703320" cy="22305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oter.png" id="86" name="Google Shape;86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307717" y="4709899"/>
            <a:ext cx="4526280" cy="282725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7"/>
          <p:cNvSpPr/>
          <p:nvPr/>
        </p:nvSpPr>
        <p:spPr>
          <a:xfrm>
            <a:off x="8215884" y="240030"/>
            <a:ext cx="4114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28F35"/>
              </a:buClr>
              <a:buSzPts val="1700"/>
              <a:buFont typeface="Arial"/>
              <a:buNone/>
            </a:pPr>
            <a:r>
              <a:rPr b="1" lang="en" sz="1700">
                <a:solidFill>
                  <a:srgbClr val="141414"/>
                </a:solidFill>
                <a:latin typeface="Google Sans"/>
                <a:ea typeface="Google Sans"/>
                <a:cs typeface="Google Sans"/>
                <a:sym typeface="Google Sans"/>
              </a:rPr>
              <a:t>02</a:t>
            </a:r>
            <a:endParaRPr sz="17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88" name="Google Shape;88;p17"/>
          <p:cNvSpPr/>
          <p:nvPr/>
        </p:nvSpPr>
        <p:spPr>
          <a:xfrm>
            <a:off x="6672834" y="548640"/>
            <a:ext cx="195453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573"/>
              </a:buClr>
              <a:buSzPts val="800"/>
              <a:buFont typeface="Arial"/>
              <a:buNone/>
            </a:pPr>
            <a:r>
              <a:rPr b="1" lang="en" sz="1000">
                <a:solidFill>
                  <a:srgbClr val="141414"/>
                </a:solidFill>
                <a:latin typeface="Google Sans"/>
                <a:ea typeface="Google Sans"/>
                <a:cs typeface="Google Sans"/>
                <a:sym typeface="Google Sans"/>
              </a:rPr>
              <a:t>THE SOLUTION</a:t>
            </a:r>
            <a:endParaRPr sz="8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89" name="Google Shape;89;p17"/>
          <p:cNvSpPr/>
          <p:nvPr/>
        </p:nvSpPr>
        <p:spPr>
          <a:xfrm>
            <a:off x="308610" y="1062990"/>
            <a:ext cx="6515100" cy="5829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23"/>
              </a:buClr>
              <a:buSzPts val="2400"/>
              <a:buFont typeface="Arial"/>
              <a:buNone/>
            </a:pPr>
            <a:r>
              <a:rPr b="1" lang="en" sz="2400">
                <a:solidFill>
                  <a:srgbClr val="141414"/>
                </a:solidFill>
                <a:latin typeface="Google Sans"/>
                <a:ea typeface="Google Sans"/>
                <a:cs typeface="Google Sans"/>
                <a:sym typeface="Google Sans"/>
              </a:rPr>
              <a:t>Your Solution</a:t>
            </a:r>
            <a:endParaRPr sz="24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90" name="Google Shape;90;p17"/>
          <p:cNvSpPr/>
          <p:nvPr/>
        </p:nvSpPr>
        <p:spPr>
          <a:xfrm>
            <a:off x="308610" y="1591056"/>
            <a:ext cx="67208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F35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141414"/>
                </a:solidFill>
                <a:latin typeface="Google Sans"/>
                <a:ea typeface="Google Sans"/>
                <a:cs typeface="Google Sans"/>
                <a:sym typeface="Google Sans"/>
              </a:rPr>
              <a:t>One app: parks, stays, verified crafts and student guides — native to Kenya</a:t>
            </a:r>
            <a:endParaRPr sz="11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91" name="Google Shape;91;p17"/>
          <p:cNvSpPr/>
          <p:nvPr/>
        </p:nvSpPr>
        <p:spPr>
          <a:xfrm>
            <a:off x="308610" y="1988820"/>
            <a:ext cx="2743200" cy="377190"/>
          </a:xfrm>
          <a:prstGeom prst="roundRect">
            <a:avLst>
              <a:gd fmla="val 10909" name="adj"/>
            </a:avLst>
          </a:prstGeom>
          <a:solidFill>
            <a:srgbClr val="028F35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rgbClr val="141414"/>
                </a:solidFill>
              </a:rPr>
              <a:t/>
            </a:r>
            <a:endParaRPr/>
          </a:p>
        </p:txBody>
      </p:sp>
      <p:sp>
        <p:nvSpPr>
          <p:cNvPr id="92" name="Google Shape;92;p17"/>
          <p:cNvSpPr/>
          <p:nvPr/>
        </p:nvSpPr>
        <p:spPr>
          <a:xfrm>
            <a:off x="308610" y="1988820"/>
            <a:ext cx="274320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141414"/>
                </a:solidFill>
                <a:latin typeface="Nunito"/>
                <a:ea typeface="Nunito"/>
                <a:cs typeface="Nunito"/>
                <a:sym typeface="Nunito"/>
              </a:rPr>
              <a:t>What it is</a:t>
            </a:r>
            <a:endParaRPr sz="11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3" name="Google Shape;93;p17"/>
          <p:cNvSpPr/>
          <p:nvPr/>
        </p:nvSpPr>
        <p:spPr>
          <a:xfrm>
            <a:off x="308610" y="2434590"/>
            <a:ext cx="2743200" cy="1714500"/>
          </a:xfrm>
          <a:prstGeom prst="roundRect">
            <a:avLst>
              <a:gd fmla="val 3200" name="adj"/>
            </a:avLst>
          </a:prstGeom>
          <a:solidFill>
            <a:srgbClr val="F7F9F8"/>
          </a:solidFill>
          <a:ln cap="flat" cmpd="sng" w="12700">
            <a:solidFill>
              <a:srgbClr val="DCE3E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rgbClr val="141414"/>
                </a:solidFill>
              </a:rPr>
              <a:t/>
            </a:r>
            <a:endParaRPr/>
          </a:p>
        </p:txBody>
      </p:sp>
      <p:sp>
        <p:nvSpPr>
          <p:cNvPr id="94" name="Google Shape;94;p17"/>
          <p:cNvSpPr/>
          <p:nvPr/>
        </p:nvSpPr>
        <p:spPr>
          <a:xfrm>
            <a:off x="480060" y="2571750"/>
            <a:ext cx="2400300" cy="14401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573"/>
              </a:buClr>
              <a:buSzPts val="900"/>
              <a:buFont typeface="Arial"/>
              <a:buNone/>
            </a:pPr>
            <a:r>
              <a:rPr i="1" lang="en" sz="900" b="1">
                <a:solidFill>
                  <a:srgbClr val="141414"/>
                </a:solidFill>
                <a:latin typeface="Nunito"/>
                <a:ea typeface="Nunito"/>
                <a:cs typeface="Nunito"/>
                <a:sym typeface="Nunito"/>
              </a:rPr>
              <a:t>A single web experience from discovering Kenya's parks to buying a named artisan craft and pairing with a vetted university guide — checked out with native M-Pesa STK Push.</a:t>
            </a:r>
            <a:endParaRPr sz="9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5" name="Google Shape;95;p17"/>
          <p:cNvSpPr/>
          <p:nvPr/>
        </p:nvSpPr>
        <p:spPr>
          <a:xfrm>
            <a:off x="3223260" y="1988820"/>
            <a:ext cx="2743200" cy="377190"/>
          </a:xfrm>
          <a:prstGeom prst="roundRect">
            <a:avLst>
              <a:gd fmla="val 10909" name="adj"/>
            </a:avLst>
          </a:prstGeom>
          <a:solidFill>
            <a:srgbClr val="028F35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rgbClr val="141414"/>
                </a:solidFill>
              </a:rPr>
              <a:t/>
            </a:r>
            <a:endParaRPr/>
          </a:p>
        </p:txBody>
      </p:sp>
      <p:sp>
        <p:nvSpPr>
          <p:cNvPr id="96" name="Google Shape;96;p17"/>
          <p:cNvSpPr/>
          <p:nvPr/>
        </p:nvSpPr>
        <p:spPr>
          <a:xfrm>
            <a:off x="3223260" y="1988820"/>
            <a:ext cx="274320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141414"/>
                </a:solidFill>
                <a:latin typeface="Nunito"/>
                <a:ea typeface="Nunito"/>
                <a:cs typeface="Nunito"/>
                <a:sym typeface="Nunito"/>
              </a:rPr>
              <a:t>How it works</a:t>
            </a:r>
            <a:endParaRPr sz="11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7" name="Google Shape;97;p17"/>
          <p:cNvSpPr/>
          <p:nvPr/>
        </p:nvSpPr>
        <p:spPr>
          <a:xfrm>
            <a:off x="3223260" y="2434590"/>
            <a:ext cx="2743200" cy="1714500"/>
          </a:xfrm>
          <a:prstGeom prst="roundRect">
            <a:avLst>
              <a:gd fmla="val 3200" name="adj"/>
            </a:avLst>
          </a:prstGeom>
          <a:solidFill>
            <a:srgbClr val="F7F9F8"/>
          </a:solidFill>
          <a:ln cap="flat" cmpd="sng" w="12700">
            <a:solidFill>
              <a:srgbClr val="DCE3E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rgbClr val="141414"/>
                </a:solidFill>
              </a:rPr>
              <a:t/>
            </a:r>
            <a:endParaRPr/>
          </a:p>
        </p:txBody>
      </p:sp>
      <p:sp>
        <p:nvSpPr>
          <p:cNvPr id="98" name="Google Shape;98;p17"/>
          <p:cNvSpPr/>
          <p:nvPr/>
        </p:nvSpPr>
        <p:spPr>
          <a:xfrm>
            <a:off x="3394710" y="2571750"/>
            <a:ext cx="2400300" cy="14401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573"/>
              </a:buClr>
              <a:buSzPts val="900"/>
              <a:buFont typeface="Arial"/>
              <a:buNone/>
            </a:pPr>
            <a:r>
              <a:rPr i="1" lang="en" sz="900" b="1">
                <a:solidFill>
                  <a:srgbClr val="141414"/>
                </a:solidFill>
                <a:latin typeface="Nunito"/>
                <a:ea typeface="Nunito"/>
                <a:cs typeface="Nunito"/>
                <a:sym typeface="Nunito"/>
              </a:rPr>
              <a:t>Interactive map across 15 parks → unified travel &amp; stay booking → curated marketplace of 28 crafts tied to real shops and Google Maps pins → on-demand pairing with vetted university student guides.</a:t>
            </a:r>
            <a:endParaRPr sz="9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9" name="Google Shape;99;p17"/>
          <p:cNvSpPr/>
          <p:nvPr/>
        </p:nvSpPr>
        <p:spPr>
          <a:xfrm>
            <a:off x="6137910" y="1988820"/>
            <a:ext cx="2743200" cy="377190"/>
          </a:xfrm>
          <a:prstGeom prst="roundRect">
            <a:avLst>
              <a:gd fmla="val 10909" name="adj"/>
            </a:avLst>
          </a:prstGeom>
          <a:solidFill>
            <a:srgbClr val="028F35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rgbClr val="141414"/>
                </a:solidFill>
              </a:rPr>
              <a:t/>
            </a:r>
            <a:endParaRPr/>
          </a:p>
        </p:txBody>
      </p:sp>
      <p:sp>
        <p:nvSpPr>
          <p:cNvPr id="100" name="Google Shape;100;p17"/>
          <p:cNvSpPr/>
          <p:nvPr/>
        </p:nvSpPr>
        <p:spPr>
          <a:xfrm>
            <a:off x="6137910" y="1988820"/>
            <a:ext cx="274320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141414"/>
                </a:solidFill>
                <a:latin typeface="Nunito"/>
                <a:ea typeface="Nunito"/>
                <a:cs typeface="Nunito"/>
                <a:sym typeface="Nunito"/>
              </a:rPr>
              <a:t>Why it's different</a:t>
            </a:r>
            <a:endParaRPr sz="11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01" name="Google Shape;101;p17"/>
          <p:cNvSpPr/>
          <p:nvPr/>
        </p:nvSpPr>
        <p:spPr>
          <a:xfrm>
            <a:off x="6137910" y="2434590"/>
            <a:ext cx="2743200" cy="1714500"/>
          </a:xfrm>
          <a:prstGeom prst="roundRect">
            <a:avLst>
              <a:gd fmla="val 3200" name="adj"/>
            </a:avLst>
          </a:prstGeom>
          <a:solidFill>
            <a:srgbClr val="F7F9F8"/>
          </a:solidFill>
          <a:ln cap="flat" cmpd="sng" w="12700">
            <a:solidFill>
              <a:srgbClr val="DCE3E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rgbClr val="141414"/>
                </a:solidFill>
              </a:rP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02" name="Google Shape;102;p17"/>
          <p:cNvSpPr/>
          <p:nvPr/>
        </p:nvSpPr>
        <p:spPr>
          <a:xfrm>
            <a:off x="6309360" y="2571750"/>
            <a:ext cx="2400300" cy="14401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573"/>
              </a:buClr>
              <a:buSzPts val="900"/>
              <a:buFont typeface="Arial"/>
              <a:buNone/>
            </a:pPr>
            <a:r>
              <a:rPr i="1" lang="en" sz="900" b="1">
                <a:solidFill>
                  <a:srgbClr val="141414"/>
                </a:solidFill>
                <a:latin typeface="Nunito"/>
                <a:ea typeface="Nunito"/>
                <a:cs typeface="Nunito"/>
                <a:sym typeface="Nunito"/>
              </a:rPr>
              <a:t>Built on Kenya's own payment rail (mobile money used by ~98% of mobile subscriptions, CA Kenya Dec 2025) instead of card-only global platforms; every shop and guide is named and mappable; guiding fees go to Kenyan students.</a:t>
            </a:r>
            <a:endParaRPr sz="9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.png" id="108" name="Google Shape;10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8610" y="240030"/>
            <a:ext cx="1062990" cy="4357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png" id="109" name="Google Shape;109;p18"/>
          <p:cNvPicPr preferRelativeResize="0"/>
          <p:nvPr/>
        </p:nvPicPr>
        <p:blipFill rotWithShape="1">
          <a:blip r:embed="rId4">
            <a:alphaModFix amt="22000"/>
          </a:blip>
          <a:srcRect b="0" l="0" r="0" t="0"/>
          <a:stretch/>
        </p:blipFill>
        <p:spPr>
          <a:xfrm>
            <a:off x="2719197" y="1559364"/>
            <a:ext cx="3703320" cy="22305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oter.png" id="110" name="Google Shape;110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307717" y="4709899"/>
            <a:ext cx="4526280" cy="282725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8"/>
          <p:cNvSpPr/>
          <p:nvPr/>
        </p:nvSpPr>
        <p:spPr>
          <a:xfrm>
            <a:off x="8215884" y="240030"/>
            <a:ext cx="4114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28F35"/>
              </a:buClr>
              <a:buSzPts val="1700"/>
              <a:buFont typeface="Arial"/>
              <a:buNone/>
            </a:pPr>
            <a:r>
              <a:rPr b="1" lang="en" sz="1700">
                <a:solidFill>
                  <a:srgbClr val="141414"/>
                </a:solidFill>
                <a:latin typeface="Google Sans"/>
                <a:ea typeface="Google Sans"/>
                <a:cs typeface="Google Sans"/>
                <a:sym typeface="Google Sans"/>
              </a:rPr>
              <a:t>03</a:t>
            </a:r>
            <a:endParaRPr sz="17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12" name="Google Shape;112;p18"/>
          <p:cNvSpPr/>
          <p:nvPr/>
        </p:nvSpPr>
        <p:spPr>
          <a:xfrm>
            <a:off x="6672834" y="548640"/>
            <a:ext cx="195453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573"/>
              </a:buClr>
              <a:buSzPts val="800"/>
              <a:buFont typeface="Arial"/>
              <a:buNone/>
            </a:pPr>
            <a:r>
              <a:rPr b="1" lang="en" sz="1000">
                <a:solidFill>
                  <a:srgbClr val="141414"/>
                </a:solidFill>
                <a:latin typeface="Google Sans"/>
                <a:ea typeface="Google Sans"/>
                <a:cs typeface="Google Sans"/>
                <a:sym typeface="Google Sans"/>
              </a:rPr>
              <a:t>PRODUCT</a:t>
            </a:r>
            <a:endParaRPr sz="8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13" name="Google Shape;113;p18"/>
          <p:cNvSpPr/>
          <p:nvPr/>
        </p:nvSpPr>
        <p:spPr>
          <a:xfrm>
            <a:off x="308610" y="1062990"/>
            <a:ext cx="6515100" cy="5829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23"/>
              </a:buClr>
              <a:buSzPts val="2400"/>
              <a:buFont typeface="Arial"/>
              <a:buNone/>
            </a:pPr>
            <a:r>
              <a:rPr b="1" lang="en" sz="2400">
                <a:solidFill>
                  <a:srgbClr val="141414"/>
                </a:solidFill>
                <a:latin typeface="Google Sans"/>
                <a:ea typeface="Google Sans"/>
                <a:cs typeface="Google Sans"/>
                <a:sym typeface="Google Sans"/>
              </a:rPr>
              <a:t>Product Overview</a:t>
            </a:r>
            <a:endParaRPr sz="24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14" name="Google Shape;114;p18"/>
          <p:cNvSpPr/>
          <p:nvPr/>
        </p:nvSpPr>
        <p:spPr>
          <a:xfrm>
            <a:off x="308610" y="1591056"/>
            <a:ext cx="67208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F35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141414"/>
                </a:solidFill>
                <a:latin typeface="Nunito"/>
                <a:ea typeface="Nunito"/>
                <a:cs typeface="Nunito"/>
                <a:sym typeface="Nunito"/>
              </a:rPr>
              <a:t>Four steps, one continuous journey</a:t>
            </a:r>
            <a:endParaRPr sz="11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15" name="Google Shape;115;p18"/>
          <p:cNvSpPr/>
          <p:nvPr/>
        </p:nvSpPr>
        <p:spPr>
          <a:xfrm>
            <a:off x="308610" y="2023110"/>
            <a:ext cx="8503920" cy="685800"/>
          </a:xfrm>
          <a:prstGeom prst="roundRect">
            <a:avLst>
              <a:gd fmla="val 8000" name="adj"/>
            </a:avLst>
          </a:prstGeom>
          <a:solidFill>
            <a:srgbClr val="F7F9F8"/>
          </a:solidFill>
          <a:ln cap="flat" cmpd="sng" w="12700">
            <a:solidFill>
              <a:srgbClr val="DCE3E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rgbClr val="141414"/>
                </a:solidFill>
              </a:rPr>
              <a:t/>
            </a:r>
            <a:endParaRPr/>
          </a:p>
        </p:txBody>
      </p:sp>
      <p:sp>
        <p:nvSpPr>
          <p:cNvPr id="116" name="Google Shape;116;p18"/>
          <p:cNvSpPr/>
          <p:nvPr/>
        </p:nvSpPr>
        <p:spPr>
          <a:xfrm>
            <a:off x="480060" y="2160270"/>
            <a:ext cx="81610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573"/>
              </a:buClr>
              <a:buSzPts val="1000"/>
              <a:buFont typeface="Arial"/>
              <a:buNone/>
            </a:pPr>
            <a:r>
              <a:rPr i="1" lang="en" sz="1000" b="1">
                <a:solidFill>
                  <a:srgbClr val="141414"/>
                </a:solidFill>
                <a:latin typeface="Nunito"/>
                <a:ea typeface="Nunito"/>
                <a:cs typeface="Nunito"/>
                <a:sym typeface="Nunito"/>
              </a:rPr>
              <a:t>The live build today: an interactive map, integrated booking, a working M-Pesa checkout, and a guide roster — with Kenyan craft &amp; place photography throughout.</a:t>
            </a:r>
            <a:endParaRPr sz="1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17" name="Google Shape;117;p18"/>
          <p:cNvSpPr/>
          <p:nvPr/>
        </p:nvSpPr>
        <p:spPr>
          <a:xfrm>
            <a:off x="308610" y="2914650"/>
            <a:ext cx="1885950" cy="1303020"/>
          </a:xfrm>
          <a:prstGeom prst="roundRect">
            <a:avLst>
              <a:gd fmla="val 4211" name="adj"/>
            </a:avLst>
          </a:prstGeom>
          <a:solidFill>
            <a:srgbClr val="EAF6EE"/>
          </a:solidFill>
          <a:ln cap="flat" cmpd="sng" w="12700">
            <a:solidFill>
              <a:srgbClr val="DCE3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rgbClr val="141414"/>
                </a:solidFill>
              </a:rPr>
              <a:t/>
            </a:r>
            <a:endParaRPr/>
          </a:p>
        </p:txBody>
      </p:sp>
      <p:sp>
        <p:nvSpPr>
          <p:cNvPr id="118" name="Google Shape;118;p18"/>
          <p:cNvSpPr/>
          <p:nvPr/>
        </p:nvSpPr>
        <p:spPr>
          <a:xfrm>
            <a:off x="308610" y="3051810"/>
            <a:ext cx="188595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323"/>
              </a:buClr>
              <a:buSzPts val="1000"/>
              <a:buFont typeface="Arial"/>
              <a:buNone/>
            </a:pPr>
            <a:r>
              <a:rPr b="1" lang="en" sz="1000">
                <a:solidFill>
                  <a:srgbClr val="141414"/>
                </a:solidFill>
                <a:latin typeface="Nunito"/>
                <a:ea typeface="Nunito"/>
                <a:cs typeface="Nunito"/>
                <a:sym typeface="Nunito"/>
              </a:rPr>
              <a:t>Discover</a:t>
            </a:r>
            <a:endParaRPr sz="1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19" name="Google Shape;119;p18"/>
          <p:cNvSpPr/>
          <p:nvPr/>
        </p:nvSpPr>
        <p:spPr>
          <a:xfrm>
            <a:off x="411480" y="3360420"/>
            <a:ext cx="1680210" cy="754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573"/>
              </a:buClr>
              <a:buSzPts val="800"/>
              <a:buFont typeface="Arial"/>
              <a:buNone/>
            </a:pPr>
            <a:r>
              <a:rPr i="1" lang="en" sz="1000" b="1">
                <a:solidFill>
                  <a:srgbClr val="141414"/>
                </a:solidFill>
                <a:latin typeface="Nunito"/>
                <a:ea typeface="Nunito"/>
                <a:cs typeface="Nunito"/>
                <a:sym typeface="Nunito"/>
              </a:rPr>
              <a:t>Browse 15 national parks &amp; destinations across Kenya and Africa on a live interactive map, with search and weather.</a:t>
            </a:r>
            <a:endParaRPr sz="8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20" name="Google Shape;120;p18"/>
          <p:cNvSpPr/>
          <p:nvPr/>
        </p:nvSpPr>
        <p:spPr>
          <a:xfrm>
            <a:off x="2194560" y="3326130"/>
            <a:ext cx="26060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573"/>
              </a:buClr>
              <a:buSzPts val="1500"/>
              <a:buFont typeface="Calibri"/>
              <a:buNone/>
            </a:pPr>
            <a:r>
              <a:rPr b="1" lang="en" sz="1500">
                <a:solidFill>
                  <a:srgbClr val="141414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8"/>
          <p:cNvSpPr/>
          <p:nvPr/>
        </p:nvSpPr>
        <p:spPr>
          <a:xfrm>
            <a:off x="2455164" y="2914650"/>
            <a:ext cx="1885950" cy="1303020"/>
          </a:xfrm>
          <a:prstGeom prst="roundRect">
            <a:avLst>
              <a:gd fmla="val 4211" name="adj"/>
            </a:avLst>
          </a:prstGeom>
          <a:solidFill>
            <a:srgbClr val="FDECEB"/>
          </a:solidFill>
          <a:ln cap="flat" cmpd="sng" w="12700">
            <a:solidFill>
              <a:srgbClr val="DCE3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rgbClr val="141414"/>
                </a:solidFill>
              </a:rPr>
              <a:t/>
            </a:r>
            <a:endParaRPr/>
          </a:p>
        </p:txBody>
      </p:sp>
      <p:sp>
        <p:nvSpPr>
          <p:cNvPr id="122" name="Google Shape;122;p18"/>
          <p:cNvSpPr/>
          <p:nvPr/>
        </p:nvSpPr>
        <p:spPr>
          <a:xfrm>
            <a:off x="2455164" y="3051810"/>
            <a:ext cx="188595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323"/>
              </a:buClr>
              <a:buSzPts val="1000"/>
              <a:buFont typeface="Arial"/>
              <a:buNone/>
            </a:pPr>
            <a:r>
              <a:rPr b="1" lang="en" sz="1000">
                <a:solidFill>
                  <a:srgbClr val="141414"/>
                </a:solidFill>
                <a:latin typeface="Nunito"/>
                <a:ea typeface="Nunito"/>
                <a:cs typeface="Nunito"/>
                <a:sym typeface="Nunito"/>
              </a:rPr>
              <a:t>Plan</a:t>
            </a:r>
            <a:endParaRPr sz="1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23" name="Google Shape;123;p18"/>
          <p:cNvSpPr/>
          <p:nvPr/>
        </p:nvSpPr>
        <p:spPr>
          <a:xfrm>
            <a:off x="2558034" y="3360420"/>
            <a:ext cx="1680210" cy="754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573"/>
              </a:buClr>
              <a:buSzPts val="800"/>
              <a:buFont typeface="Arial"/>
              <a:buNone/>
            </a:pPr>
            <a:r>
              <a:rPr i="1" lang="en" sz="1000" b="1">
                <a:solidFill>
                  <a:srgbClr val="141414"/>
                </a:solidFill>
                <a:latin typeface="Nunito"/>
                <a:ea typeface="Nunito"/>
                <a:cs typeface="Nunito"/>
                <a:sym typeface="Nunito"/>
              </a:rPr>
              <a:t>Book travel and accommodation in the same flow — no separate app or tab.</a:t>
            </a:r>
            <a:endParaRPr sz="8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24" name="Google Shape;124;p18"/>
          <p:cNvSpPr/>
          <p:nvPr/>
        </p:nvSpPr>
        <p:spPr>
          <a:xfrm>
            <a:off x="4341114" y="3326130"/>
            <a:ext cx="26060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573"/>
              </a:buClr>
              <a:buSzPts val="1500"/>
              <a:buFont typeface="Calibri"/>
              <a:buNone/>
            </a:pPr>
            <a:r>
              <a:rPr b="1" lang="en" sz="1500">
                <a:solidFill>
                  <a:srgbClr val="141414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8"/>
          <p:cNvSpPr/>
          <p:nvPr/>
        </p:nvSpPr>
        <p:spPr>
          <a:xfrm>
            <a:off x="4601718" y="2914650"/>
            <a:ext cx="1885950" cy="1303020"/>
          </a:xfrm>
          <a:prstGeom prst="roundRect">
            <a:avLst>
              <a:gd fmla="val 4211" name="adj"/>
            </a:avLst>
          </a:prstGeom>
          <a:solidFill>
            <a:srgbClr val="EAF6EE"/>
          </a:solidFill>
          <a:ln cap="flat" cmpd="sng" w="12700">
            <a:solidFill>
              <a:srgbClr val="DCE3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rgbClr val="141414"/>
                </a:solidFill>
              </a:rPr>
              <a:t/>
            </a:r>
            <a:endParaRPr/>
          </a:p>
        </p:txBody>
      </p:sp>
      <p:sp>
        <p:nvSpPr>
          <p:cNvPr id="126" name="Google Shape;126;p18"/>
          <p:cNvSpPr/>
          <p:nvPr/>
        </p:nvSpPr>
        <p:spPr>
          <a:xfrm>
            <a:off x="4601718" y="3051810"/>
            <a:ext cx="188595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323"/>
              </a:buClr>
              <a:buSzPts val="1000"/>
              <a:buFont typeface="Arial"/>
              <a:buNone/>
            </a:pPr>
            <a:r>
              <a:rPr b="1" lang="en" sz="1000">
                <a:solidFill>
                  <a:srgbClr val="141414"/>
                </a:solidFill>
                <a:latin typeface="Nunito"/>
                <a:ea typeface="Nunito"/>
                <a:cs typeface="Nunito"/>
                <a:sym typeface="Nunito"/>
              </a:rPr>
              <a:t>Shop</a:t>
            </a:r>
            <a:endParaRPr sz="1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27" name="Google Shape;127;p18"/>
          <p:cNvSpPr/>
          <p:nvPr/>
        </p:nvSpPr>
        <p:spPr>
          <a:xfrm>
            <a:off x="4704588" y="3360420"/>
            <a:ext cx="1680210" cy="754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573"/>
              </a:buClr>
              <a:buSzPts val="800"/>
              <a:buFont typeface="Arial"/>
              <a:buNone/>
            </a:pPr>
            <a:r>
              <a:rPr i="1" lang="en" sz="1000" b="1">
                <a:solidFill>
                  <a:srgbClr val="141414"/>
                </a:solidFill>
                <a:latin typeface="Nunito"/>
                <a:ea typeface="Nunito"/>
                <a:cs typeface="Nunito"/>
                <a:sym typeface="Nunito"/>
              </a:rPr>
              <a:t>Buy an authentic craft from a named shop, e.g. Tabaka Soapstone Cooperative in Kisii, mapped on Google Maps.</a:t>
            </a:r>
            <a:endParaRPr sz="8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28" name="Google Shape;128;p18"/>
          <p:cNvSpPr/>
          <p:nvPr/>
        </p:nvSpPr>
        <p:spPr>
          <a:xfrm>
            <a:off x="6487668" y="3326130"/>
            <a:ext cx="26060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573"/>
              </a:buClr>
              <a:buSzPts val="1500"/>
              <a:buFont typeface="Calibri"/>
              <a:buNone/>
            </a:pPr>
            <a:r>
              <a:rPr b="1" lang="en" sz="1500">
                <a:solidFill>
                  <a:srgbClr val="141414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8"/>
          <p:cNvSpPr/>
          <p:nvPr/>
        </p:nvSpPr>
        <p:spPr>
          <a:xfrm>
            <a:off x="6748272" y="2914650"/>
            <a:ext cx="1885950" cy="1303020"/>
          </a:xfrm>
          <a:prstGeom prst="roundRect">
            <a:avLst>
              <a:gd fmla="val 4211" name="adj"/>
            </a:avLst>
          </a:prstGeom>
          <a:solidFill>
            <a:srgbClr val="FDECEB"/>
          </a:solidFill>
          <a:ln cap="flat" cmpd="sng" w="12700">
            <a:solidFill>
              <a:srgbClr val="DCE3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rgbClr val="141414"/>
                </a:solidFill>
              </a:rPr>
              <a:t/>
            </a:r>
            <a:endParaRPr/>
          </a:p>
        </p:txBody>
      </p:sp>
      <p:sp>
        <p:nvSpPr>
          <p:cNvPr id="130" name="Google Shape;130;p18"/>
          <p:cNvSpPr/>
          <p:nvPr/>
        </p:nvSpPr>
        <p:spPr>
          <a:xfrm>
            <a:off x="6748272" y="3051810"/>
            <a:ext cx="188595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323"/>
              </a:buClr>
              <a:buSzPts val="1000"/>
              <a:buFont typeface="Arial"/>
              <a:buNone/>
            </a:pPr>
            <a:r>
              <a:rPr b="1" lang="en" sz="1000">
                <a:solidFill>
                  <a:srgbClr val="141414"/>
                </a:solidFill>
                <a:latin typeface="Nunito"/>
                <a:ea typeface="Nunito"/>
                <a:cs typeface="Nunito"/>
                <a:sym typeface="Nunito"/>
              </a:rPr>
              <a:t>Connect</a:t>
            </a:r>
            <a:endParaRPr sz="1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31" name="Google Shape;131;p18"/>
          <p:cNvSpPr/>
          <p:nvPr/>
        </p:nvSpPr>
        <p:spPr>
          <a:xfrm>
            <a:off x="6851142" y="3360420"/>
            <a:ext cx="1680210" cy="754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573"/>
              </a:buClr>
              <a:buSzPts val="800"/>
              <a:buFont typeface="Arial"/>
              <a:buNone/>
            </a:pPr>
            <a:r>
              <a:rPr i="1" lang="en" sz="1000" b="1">
                <a:solidFill>
                  <a:srgbClr val="141414"/>
                </a:solidFill>
                <a:latin typeface="Nunito"/>
                <a:ea typeface="Nunito"/>
                <a:cs typeface="Nunito"/>
                <a:sym typeface="Nunito"/>
              </a:rPr>
              <a:t>Pay instantly by M-Pesa STK Push, then pair with a vetted student guide from one of 12 Kenyan universities.</a:t>
            </a:r>
            <a:endParaRPr sz="8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.png" id="137" name="Google Shape;13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8610" y="240030"/>
            <a:ext cx="1062990" cy="4357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oter.png" id="138" name="Google Shape;138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07717" y="4709899"/>
            <a:ext cx="4526280" cy="282725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9"/>
          <p:cNvSpPr/>
          <p:nvPr/>
        </p:nvSpPr>
        <p:spPr>
          <a:xfrm>
            <a:off x="8362061" y="240025"/>
            <a:ext cx="450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28F35"/>
              </a:buClr>
              <a:buSzPts val="1700"/>
              <a:buFont typeface="Arial"/>
              <a:buNone/>
            </a:pPr>
            <a:r>
              <a:rPr b="1" lang="en" sz="1700">
                <a:solidFill>
                  <a:srgbClr val="141414"/>
                </a:solidFill>
                <a:latin typeface="Google Sans"/>
                <a:ea typeface="Google Sans"/>
                <a:cs typeface="Google Sans"/>
                <a:sym typeface="Google Sans"/>
              </a:rPr>
              <a:t>04</a:t>
            </a:r>
            <a:endParaRPr sz="17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40" name="Google Shape;140;p19"/>
          <p:cNvSpPr/>
          <p:nvPr/>
        </p:nvSpPr>
        <p:spPr>
          <a:xfrm>
            <a:off x="6672824" y="548635"/>
            <a:ext cx="21396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573"/>
              </a:buClr>
              <a:buSzPts val="800"/>
              <a:buFont typeface="Arial"/>
              <a:buNone/>
            </a:pPr>
            <a:r>
              <a:rPr b="1" lang="en" sz="1000">
                <a:solidFill>
                  <a:srgbClr val="141414"/>
                </a:solidFill>
                <a:latin typeface="Google Sans"/>
                <a:ea typeface="Google Sans"/>
                <a:cs typeface="Google Sans"/>
                <a:sym typeface="Google Sans"/>
              </a:rPr>
              <a:t>MARKET</a:t>
            </a:r>
            <a:endParaRPr sz="8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41" name="Google Shape;141;p19"/>
          <p:cNvSpPr/>
          <p:nvPr/>
        </p:nvSpPr>
        <p:spPr>
          <a:xfrm>
            <a:off x="308610" y="1062990"/>
            <a:ext cx="6515100" cy="5829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23"/>
              </a:buClr>
              <a:buSzPts val="2400"/>
              <a:buFont typeface="Arial"/>
              <a:buNone/>
            </a:pPr>
            <a:r>
              <a:rPr b="1" lang="en" sz="2400">
                <a:solidFill>
                  <a:srgbClr val="141414"/>
                </a:solidFill>
                <a:latin typeface="Google Sans"/>
                <a:ea typeface="Google Sans"/>
                <a:cs typeface="Google Sans"/>
                <a:sym typeface="Google Sans"/>
              </a:rPr>
              <a:t>Market Opportunity</a:t>
            </a:r>
            <a:endParaRPr sz="24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42" name="Google Shape;142;p19"/>
          <p:cNvSpPr/>
          <p:nvPr/>
        </p:nvSpPr>
        <p:spPr>
          <a:xfrm>
            <a:off x="308610" y="1591056"/>
            <a:ext cx="67208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F35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141414"/>
                </a:solidFill>
                <a:latin typeface="Google Sans"/>
                <a:ea typeface="Google Sans"/>
                <a:cs typeface="Google Sans"/>
                <a:sym typeface="Google Sans"/>
              </a:rPr>
              <a:t>Size the opportunity: TAM, SAM, SOM</a:t>
            </a:r>
            <a:endParaRPr sz="11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43" name="Google Shape;143;p19"/>
          <p:cNvSpPr/>
          <p:nvPr/>
        </p:nvSpPr>
        <p:spPr>
          <a:xfrm>
            <a:off x="308610" y="1954530"/>
            <a:ext cx="44577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573"/>
              </a:buClr>
              <a:buSzPts val="900"/>
              <a:buFont typeface="Arial"/>
              <a:buNone/>
            </a:pPr>
            <a:r>
              <a:rPr i="1" lang="en" sz="900" b="1">
                <a:solidFill>
                  <a:srgbClr val="141414"/>
                </a:solidFill>
                <a:latin typeface="Nunito"/>
                <a:ea typeface="Nunito"/>
                <a:cs typeface="Nunito"/>
                <a:sym typeface="Nunito"/>
              </a:rPr>
              <a:t>TAM — US$12.7B   ·   SAM — ~US$3.8B (KES 0.5T)   ·   SOM (3-yr, modeled) — US$45M GMV</a:t>
            </a:r>
            <a:endParaRPr sz="9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44" name="Google Shape;144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08610" y="2194560"/>
            <a:ext cx="4457700" cy="233172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/>
          <p:nvPr/>
        </p:nvSpPr>
        <p:spPr>
          <a:xfrm>
            <a:off x="4972050" y="1954530"/>
            <a:ext cx="3840480" cy="2571750"/>
          </a:xfrm>
          <a:prstGeom prst="roundRect">
            <a:avLst>
              <a:gd fmla="val 2133" name="adj"/>
            </a:avLst>
          </a:prstGeom>
          <a:solidFill>
            <a:srgbClr val="F7F9F8"/>
          </a:solidFill>
          <a:ln cap="flat" cmpd="sng" w="12700">
            <a:solidFill>
              <a:srgbClr val="DCE3E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rgbClr val="141414"/>
                </a:solidFill>
              </a:rPr>
              <a:t/>
            </a:r>
            <a:endParaRPr/>
          </a:p>
        </p:txBody>
      </p:sp>
      <p:sp>
        <p:nvSpPr>
          <p:cNvPr id="146" name="Google Shape;146;p19"/>
          <p:cNvSpPr/>
          <p:nvPr/>
        </p:nvSpPr>
        <p:spPr>
          <a:xfrm>
            <a:off x="5143500" y="2091690"/>
            <a:ext cx="3497580" cy="22974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573"/>
              </a:buClr>
              <a:buSzPts val="900"/>
              <a:buFont typeface="Arial"/>
              <a:buNone/>
            </a:pPr>
            <a:r>
              <a:rPr i="1" lang="en" sz="900" b="1">
                <a:solidFill>
                  <a:srgbClr val="141414"/>
                </a:solidFill>
                <a:latin typeface="Nunito"/>
                <a:ea typeface="Nunito"/>
                <a:cs typeface="Nunito"/>
                <a:sym typeface="Nunito"/>
              </a:rPr>
              <a:t>• TAM — US$12.7B: WTTC reports Travel &amp; Tourism contributed US$12.7 billion to Kenya's economy in 2025 (9.3% of GDP) and supported 1.8 million jobs (8.3% of employment). Source: WTTC Economic Impact Research 2025/26.</a:t>
            </a:r>
            <a:endParaRPr sz="9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rPr b="1">
                <a:solidFill>
                  <a:srgbClr val="141414"/>
                </a:solidFill>
              </a:rPr>
              <a:t>• SAM — ~US$3.8B (KES 0.5T): Government-reported direct tourism earnings from 7.9M visitors in 2025 (2.7M international + 5.2M domestic). Digitally reachable craft, guiding and local-booking spend sits inside this earnings base. Source: Kenya Ministry of Tourism &amp; Wildlife / Magical Kenya 2025.</a:t>
            </a:r>
            <a:endParaRPr sz="9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573"/>
              </a:buClr>
              <a:buSzPts val="900"/>
              <a:buFont typeface="Arial"/>
              <a:buNone/>
            </a:pPr>
            <a:r>
              <a:rPr i="1" lang="en" sz="900" b="1">
                <a:solidFill>
                  <a:srgbClr val="141414"/>
                </a:solidFill>
                <a:latin typeface="Nunito"/>
                <a:ea typeface="Nunito"/>
                <a:cs typeface="Nunito"/>
                <a:sym typeface="Nunito"/>
              </a:rPr>
              <a:t>• SOM (3-yr, modeled) — US$45M GMV: Illustrative ~1.2% of international visitor spend on crafts/experiences/guiding (~US$5.0B international spend per WTTC) flowing through Aurora by year 3 — a model to validate in the Nairobi + Maasai Mara pilot, not an achieved figure.</a:t>
            </a:r>
            <a:endParaRPr sz="9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rPr b="1">
                <a:solidFill>
                  <a:srgbClr val="141414"/>
                </a:solidFill>
              </a:rPr>
              <a:t/>
            </a:r>
            <a:endParaRPr sz="9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573"/>
              </a:buClr>
              <a:buSzPts val="900"/>
              <a:buFont typeface="Arial"/>
              <a:buNone/>
            </a:pPr>
            <a:r>
              <a:rPr i="1" lang="en" sz="900" b="1">
                <a:solidFill>
                  <a:srgbClr val="141414"/>
                </a:solidFill>
                <a:latin typeface="Nunito"/>
                <a:ea typeface="Nunito"/>
                <a:cs typeface="Nunito"/>
                <a:sym typeface="Nunito"/>
              </a:rPr>
              <a:t/>
            </a:r>
            <a:endParaRPr sz="9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rPr b="1">
                <a:solidFill>
                  <a:srgbClr val="141414"/>
                </a:solidFill>
              </a:rPr>
              <a:t/>
            </a:r>
            <a:endParaRPr sz="9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573"/>
              </a:buClr>
              <a:buSzPts val="900"/>
              <a:buFont typeface="Arial"/>
              <a:buNone/>
            </a:pPr>
            <a:r>
              <a:rPr i="1" lang="en" sz="900" b="1">
                <a:solidFill>
                  <a:srgbClr val="141414"/>
                </a:solidFill>
                <a:latin typeface="Nunito"/>
                <a:ea typeface="Nunito"/>
                <a:cs typeface="Nunito"/>
                <a:sym typeface="Nunito"/>
              </a:rPr>
              <a:t/>
            </a:r>
            <a:endParaRPr sz="9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.png" id="152" name="Google Shape;15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8610" y="240030"/>
            <a:ext cx="1062990" cy="4357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png" id="153" name="Google Shape;153;p20"/>
          <p:cNvPicPr preferRelativeResize="0"/>
          <p:nvPr/>
        </p:nvPicPr>
        <p:blipFill rotWithShape="1">
          <a:blip r:embed="rId4">
            <a:alphaModFix amt="22000"/>
          </a:blip>
          <a:srcRect b="0" l="0" r="0" t="0"/>
          <a:stretch/>
        </p:blipFill>
        <p:spPr>
          <a:xfrm>
            <a:off x="2719197" y="1559364"/>
            <a:ext cx="3703320" cy="22305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oter.png" id="154" name="Google Shape;154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307717" y="4709899"/>
            <a:ext cx="4526280" cy="282725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0"/>
          <p:cNvSpPr/>
          <p:nvPr/>
        </p:nvSpPr>
        <p:spPr>
          <a:xfrm>
            <a:off x="8215884" y="240030"/>
            <a:ext cx="4114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28F35"/>
              </a:buClr>
              <a:buSzPts val="1700"/>
              <a:buFont typeface="Arial"/>
              <a:buNone/>
            </a:pPr>
            <a:r>
              <a:rPr b="1" lang="en" sz="1700">
                <a:solidFill>
                  <a:srgbClr val="141414"/>
                </a:solidFill>
                <a:latin typeface="Google Sans"/>
                <a:ea typeface="Google Sans"/>
                <a:cs typeface="Google Sans"/>
                <a:sym typeface="Google Sans"/>
              </a:rPr>
              <a:t>05</a:t>
            </a:r>
            <a:endParaRPr sz="17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56" name="Google Shape;156;p20"/>
          <p:cNvSpPr/>
          <p:nvPr/>
        </p:nvSpPr>
        <p:spPr>
          <a:xfrm>
            <a:off x="6672834" y="548640"/>
            <a:ext cx="195453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573"/>
              </a:buClr>
              <a:buSzPts val="800"/>
              <a:buFont typeface="Arial"/>
              <a:buNone/>
            </a:pPr>
            <a:r>
              <a:rPr b="1" lang="en" sz="1000">
                <a:solidFill>
                  <a:srgbClr val="141414"/>
                </a:solidFill>
                <a:latin typeface="Google Sans"/>
                <a:ea typeface="Google Sans"/>
                <a:cs typeface="Google Sans"/>
                <a:sym typeface="Google Sans"/>
              </a:rPr>
              <a:t>BUSINESS MODEL</a:t>
            </a:r>
            <a:endParaRPr sz="8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57" name="Google Shape;157;p20"/>
          <p:cNvSpPr/>
          <p:nvPr/>
        </p:nvSpPr>
        <p:spPr>
          <a:xfrm>
            <a:off x="308610" y="1062990"/>
            <a:ext cx="6515100" cy="5829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23"/>
              </a:buClr>
              <a:buSzPts val="2400"/>
              <a:buFont typeface="Arial"/>
              <a:buNone/>
            </a:pPr>
            <a:r>
              <a:rPr b="1" lang="en" sz="2400">
                <a:solidFill>
                  <a:srgbClr val="141414"/>
                </a:solidFill>
                <a:latin typeface="Google Sans"/>
                <a:ea typeface="Google Sans"/>
                <a:cs typeface="Google Sans"/>
                <a:sym typeface="Google Sans"/>
              </a:rPr>
              <a:t>Business Model</a:t>
            </a:r>
            <a:endParaRPr sz="24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58" name="Google Shape;158;p20"/>
          <p:cNvSpPr/>
          <p:nvPr/>
        </p:nvSpPr>
        <p:spPr>
          <a:xfrm>
            <a:off x="308610" y="1591056"/>
            <a:ext cx="67208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F35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141414"/>
                </a:solidFill>
                <a:latin typeface="Nunito"/>
                <a:ea typeface="Nunito"/>
                <a:cs typeface="Nunito"/>
                <a:sym typeface="Nunito"/>
              </a:rPr>
              <a:t>How Aurora Travels makes money</a:t>
            </a:r>
            <a:endParaRPr sz="11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59" name="Google Shape;159;p20"/>
          <p:cNvSpPr/>
          <p:nvPr/>
        </p:nvSpPr>
        <p:spPr>
          <a:xfrm>
            <a:off x="308610" y="1988820"/>
            <a:ext cx="2743200" cy="377190"/>
          </a:xfrm>
          <a:prstGeom prst="roundRect">
            <a:avLst>
              <a:gd fmla="val 10909" name="adj"/>
            </a:avLst>
          </a:prstGeom>
          <a:solidFill>
            <a:srgbClr val="E4181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rgbClr val="141414"/>
                </a:solidFill>
              </a:rPr>
              <a:t/>
            </a:r>
            <a:endParaRPr/>
          </a:p>
        </p:txBody>
      </p:sp>
      <p:sp>
        <p:nvSpPr>
          <p:cNvPr id="160" name="Google Shape;160;p20"/>
          <p:cNvSpPr/>
          <p:nvPr/>
        </p:nvSpPr>
        <p:spPr>
          <a:xfrm>
            <a:off x="308610" y="1988820"/>
            <a:ext cx="274320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141414"/>
                </a:solidFill>
                <a:latin typeface="Nunito"/>
                <a:ea typeface="Nunito"/>
                <a:cs typeface="Nunito"/>
                <a:sym typeface="Nunito"/>
              </a:rPr>
              <a:t>Revenue Streams</a:t>
            </a:r>
            <a:endParaRPr sz="11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61" name="Google Shape;161;p20"/>
          <p:cNvSpPr/>
          <p:nvPr/>
        </p:nvSpPr>
        <p:spPr>
          <a:xfrm>
            <a:off x="308610" y="2434590"/>
            <a:ext cx="2743200" cy="1714500"/>
          </a:xfrm>
          <a:prstGeom prst="roundRect">
            <a:avLst>
              <a:gd fmla="val 3200" name="adj"/>
            </a:avLst>
          </a:prstGeom>
          <a:solidFill>
            <a:srgbClr val="F7F9F8"/>
          </a:solidFill>
          <a:ln cap="flat" cmpd="sng" w="12700">
            <a:solidFill>
              <a:srgbClr val="DCE3E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rgbClr val="141414"/>
                </a:solidFill>
              </a:rPr>
              <a:t/>
            </a:r>
            <a:endParaRPr/>
          </a:p>
        </p:txBody>
      </p:sp>
      <p:sp>
        <p:nvSpPr>
          <p:cNvPr id="162" name="Google Shape;162;p20"/>
          <p:cNvSpPr/>
          <p:nvPr/>
        </p:nvSpPr>
        <p:spPr>
          <a:xfrm>
            <a:off x="480060" y="2571750"/>
            <a:ext cx="2400300" cy="14401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573"/>
              </a:buClr>
              <a:buSzPts val="900"/>
              <a:buFont typeface="Arial"/>
              <a:buNone/>
            </a:pPr>
            <a:r>
              <a:rPr i="1" lang="en" sz="900" b="1">
                <a:solidFill>
                  <a:srgbClr val="141414"/>
                </a:solidFill>
                <a:latin typeface="Nunito"/>
                <a:ea typeface="Nunito"/>
                <a:cs typeface="Nunito"/>
                <a:sym typeface="Nunito"/>
              </a:rPr>
              <a:t>12% average take-rate on craft GMV (below typical OTA bands); KES 500–800 guide-booking service fee per pairing; 8–10% referral commission on travel &amp; stay bookings; featured-placement fees for shops (KES 3,000–8,000/mo) and guides.</a:t>
            </a:r>
            <a:endParaRPr sz="9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63" name="Google Shape;163;p20"/>
          <p:cNvSpPr/>
          <p:nvPr/>
        </p:nvSpPr>
        <p:spPr>
          <a:xfrm>
            <a:off x="3223260" y="1988820"/>
            <a:ext cx="2743200" cy="377190"/>
          </a:xfrm>
          <a:prstGeom prst="roundRect">
            <a:avLst>
              <a:gd fmla="val 10909" name="adj"/>
            </a:avLst>
          </a:prstGeom>
          <a:solidFill>
            <a:srgbClr val="E4181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rgbClr val="141414"/>
                </a:solidFill>
              </a:rPr>
              <a:t/>
            </a:r>
            <a:endParaRPr/>
          </a:p>
        </p:txBody>
      </p:sp>
      <p:sp>
        <p:nvSpPr>
          <p:cNvPr id="164" name="Google Shape;164;p20"/>
          <p:cNvSpPr/>
          <p:nvPr/>
        </p:nvSpPr>
        <p:spPr>
          <a:xfrm>
            <a:off x="3223260" y="1988820"/>
            <a:ext cx="274320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141414"/>
                </a:solidFill>
                <a:latin typeface="Nunito"/>
                <a:ea typeface="Nunito"/>
                <a:cs typeface="Nunito"/>
                <a:sym typeface="Nunito"/>
              </a:rPr>
              <a:t>Pricing</a:t>
            </a:r>
            <a:endParaRPr sz="11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65" name="Google Shape;165;p20"/>
          <p:cNvSpPr/>
          <p:nvPr/>
        </p:nvSpPr>
        <p:spPr>
          <a:xfrm>
            <a:off x="3223260" y="2434590"/>
            <a:ext cx="2743200" cy="1714500"/>
          </a:xfrm>
          <a:prstGeom prst="roundRect">
            <a:avLst>
              <a:gd fmla="val 3200" name="adj"/>
            </a:avLst>
          </a:prstGeom>
          <a:solidFill>
            <a:srgbClr val="F7F9F8"/>
          </a:solidFill>
          <a:ln cap="flat" cmpd="sng" w="12700">
            <a:solidFill>
              <a:srgbClr val="DCE3E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rgbClr val="141414"/>
                </a:solidFill>
              </a:rPr>
              <a:t/>
            </a:r>
            <a:endParaRPr/>
          </a:p>
        </p:txBody>
      </p:sp>
      <p:sp>
        <p:nvSpPr>
          <p:cNvPr id="166" name="Google Shape;166;p20"/>
          <p:cNvSpPr/>
          <p:nvPr/>
        </p:nvSpPr>
        <p:spPr>
          <a:xfrm>
            <a:off x="3394710" y="2571750"/>
            <a:ext cx="2400300" cy="14401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573"/>
              </a:buClr>
              <a:buSzPts val="900"/>
              <a:buFont typeface="Arial"/>
              <a:buNone/>
            </a:pPr>
            <a:r>
              <a:rPr i="1" lang="en" sz="900" b="1">
                <a:solidFill>
                  <a:srgbClr val="141414"/>
                </a:solidFill>
                <a:latin typeface="Nunito"/>
                <a:ea typeface="Nunito"/>
                <a:cs typeface="Nunito"/>
                <a:sym typeface="Nunito"/>
              </a:rPr>
              <a:t>Live catalogue prices run from KES 2,200 to KES 15,200 (~US$17–$118) across 28 crafts. Global tour OTAs commonly take 20–30% (Viator ~20–25% base; GetYourGuide 20–30%). Aurora undercuts that with M-Pesa-native checkout — no card gateway friction where ~98% of mobile subscriptions use mobile money.</a:t>
            </a:r>
            <a:endParaRPr sz="9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67" name="Google Shape;167;p20"/>
          <p:cNvSpPr/>
          <p:nvPr/>
        </p:nvSpPr>
        <p:spPr>
          <a:xfrm>
            <a:off x="6137910" y="1988820"/>
            <a:ext cx="2743200" cy="377190"/>
          </a:xfrm>
          <a:prstGeom prst="roundRect">
            <a:avLst>
              <a:gd fmla="val 10909" name="adj"/>
            </a:avLst>
          </a:prstGeom>
          <a:solidFill>
            <a:srgbClr val="E4181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rgbClr val="141414"/>
                </a:solidFill>
              </a:rPr>
              <a:t/>
            </a:r>
            <a:endParaRPr/>
          </a:p>
        </p:txBody>
      </p:sp>
      <p:sp>
        <p:nvSpPr>
          <p:cNvPr id="168" name="Google Shape;168;p20"/>
          <p:cNvSpPr/>
          <p:nvPr/>
        </p:nvSpPr>
        <p:spPr>
          <a:xfrm>
            <a:off x="6137910" y="1988820"/>
            <a:ext cx="274320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141414"/>
                </a:solidFill>
                <a:latin typeface="Nunito"/>
                <a:ea typeface="Nunito"/>
                <a:cs typeface="Nunito"/>
                <a:sym typeface="Nunito"/>
              </a:rPr>
              <a:t>Unit Economics</a:t>
            </a:r>
            <a:endParaRPr sz="11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69" name="Google Shape;169;p20"/>
          <p:cNvSpPr/>
          <p:nvPr/>
        </p:nvSpPr>
        <p:spPr>
          <a:xfrm>
            <a:off x="6137910" y="2434590"/>
            <a:ext cx="2743200" cy="1714500"/>
          </a:xfrm>
          <a:prstGeom prst="roundRect">
            <a:avLst>
              <a:gd fmla="val 3200" name="adj"/>
            </a:avLst>
          </a:prstGeom>
          <a:solidFill>
            <a:srgbClr val="F7F9F8"/>
          </a:solidFill>
          <a:ln cap="flat" cmpd="sng" w="12700">
            <a:solidFill>
              <a:srgbClr val="DCE3E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rgbClr val="141414"/>
                </a:solidFill>
              </a:rPr>
              <a:t/>
            </a:r>
            <a:endParaRPr/>
          </a:p>
        </p:txBody>
      </p:sp>
      <p:sp>
        <p:nvSpPr>
          <p:cNvPr id="170" name="Google Shape;170;p20"/>
          <p:cNvSpPr/>
          <p:nvPr/>
        </p:nvSpPr>
        <p:spPr>
          <a:xfrm>
            <a:off x="6309360" y="2571750"/>
            <a:ext cx="2400300" cy="14401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573"/>
              </a:buClr>
              <a:buSzPts val="900"/>
              <a:buFont typeface="Arial"/>
              <a:buNone/>
            </a:pPr>
            <a:r>
              <a:rPr i="1" lang="en" sz="900" b="1">
                <a:solidFill>
                  <a:srgbClr val="141414"/>
                </a:solidFill>
                <a:latin typeface="Nunito"/>
                <a:ea typeface="Nunito"/>
                <a:cs typeface="Nunito"/>
                <a:sym typeface="Nunito"/>
              </a:rPr>
              <a:t>Low CAC via university guide network and shops already mapped. At modeled Y3 GMV of US$45M and 11% blended take-rate → ~US$5.0M platform revenue. LTV compounds across repeat trips, multiple crafts and guide bookings.</a:t>
            </a:r>
            <a:endParaRPr sz="9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.png" id="176" name="Google Shape;17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8610" y="240030"/>
            <a:ext cx="1062990" cy="4357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png" id="177" name="Google Shape;177;p21"/>
          <p:cNvPicPr preferRelativeResize="0"/>
          <p:nvPr/>
        </p:nvPicPr>
        <p:blipFill rotWithShape="1">
          <a:blip r:embed="rId4">
            <a:alphaModFix amt="22000"/>
          </a:blip>
          <a:srcRect b="0" l="0" r="0" t="0"/>
          <a:stretch/>
        </p:blipFill>
        <p:spPr>
          <a:xfrm>
            <a:off x="2719197" y="1559364"/>
            <a:ext cx="3703320" cy="22305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oter.png" id="178" name="Google Shape;178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307717" y="4709899"/>
            <a:ext cx="4526280" cy="282725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1"/>
          <p:cNvSpPr/>
          <p:nvPr/>
        </p:nvSpPr>
        <p:spPr>
          <a:xfrm>
            <a:off x="8215884" y="240030"/>
            <a:ext cx="4114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28F35"/>
              </a:buClr>
              <a:buSzPts val="1700"/>
              <a:buFont typeface="Arial"/>
              <a:buNone/>
            </a:pPr>
            <a:r>
              <a:rPr b="1" lang="en" sz="1700">
                <a:solidFill>
                  <a:srgbClr val="141414"/>
                </a:solidFill>
                <a:latin typeface="Google Sans"/>
                <a:ea typeface="Google Sans"/>
                <a:cs typeface="Google Sans"/>
                <a:sym typeface="Google Sans"/>
              </a:rPr>
              <a:t>06</a:t>
            </a:r>
            <a:endParaRPr sz="17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80" name="Google Shape;180;p21"/>
          <p:cNvSpPr/>
          <p:nvPr/>
        </p:nvSpPr>
        <p:spPr>
          <a:xfrm>
            <a:off x="6672834" y="548640"/>
            <a:ext cx="195453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573"/>
              </a:buClr>
              <a:buSzPts val="800"/>
              <a:buFont typeface="Arial"/>
              <a:buNone/>
            </a:pPr>
            <a:r>
              <a:rPr b="1" lang="en" sz="1000">
                <a:solidFill>
                  <a:srgbClr val="141414"/>
                </a:solidFill>
                <a:latin typeface="Google Sans"/>
                <a:ea typeface="Google Sans"/>
                <a:cs typeface="Google Sans"/>
                <a:sym typeface="Google Sans"/>
              </a:rPr>
              <a:t>TRACTION</a:t>
            </a:r>
            <a:endParaRPr sz="8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81" name="Google Shape;181;p21"/>
          <p:cNvSpPr/>
          <p:nvPr/>
        </p:nvSpPr>
        <p:spPr>
          <a:xfrm>
            <a:off x="308610" y="1062990"/>
            <a:ext cx="6515100" cy="5829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23"/>
              </a:buClr>
              <a:buSzPts val="2400"/>
              <a:buFont typeface="Arial"/>
              <a:buNone/>
            </a:pPr>
            <a:r>
              <a:rPr b="1" lang="en" sz="2400">
                <a:solidFill>
                  <a:srgbClr val="141414"/>
                </a:solidFill>
                <a:latin typeface="Google Sans"/>
                <a:ea typeface="Google Sans"/>
                <a:cs typeface="Google Sans"/>
                <a:sym typeface="Google Sans"/>
              </a:rPr>
              <a:t>Traction &amp; Validation</a:t>
            </a:r>
            <a:endParaRPr sz="24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82" name="Google Shape;182;p21"/>
          <p:cNvSpPr/>
          <p:nvPr/>
        </p:nvSpPr>
        <p:spPr>
          <a:xfrm>
            <a:off x="308610" y="1591056"/>
            <a:ext cx="67208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F35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141414"/>
                </a:solidFill>
                <a:latin typeface="Google Sans"/>
                <a:ea typeface="Google Sans"/>
                <a:cs typeface="Google Sans"/>
                <a:sym typeface="Google Sans"/>
              </a:rPr>
              <a:t>What's already built — pre-launch, seeking pilot partners</a:t>
            </a:r>
            <a:endParaRPr sz="11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83" name="Google Shape;183;p21"/>
          <p:cNvSpPr/>
          <p:nvPr/>
        </p:nvSpPr>
        <p:spPr>
          <a:xfrm>
            <a:off x="308610" y="2023110"/>
            <a:ext cx="4080510" cy="1097280"/>
          </a:xfrm>
          <a:prstGeom prst="roundRect">
            <a:avLst>
              <a:gd fmla="val 5000" name="adj"/>
            </a:avLst>
          </a:prstGeom>
          <a:solidFill>
            <a:srgbClr val="F7F9F8"/>
          </a:solidFill>
          <a:ln cap="flat" cmpd="sng" w="12700">
            <a:solidFill>
              <a:srgbClr val="DCE3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rgbClr val="141414"/>
                </a:solidFill>
              </a:rPr>
              <a:t/>
            </a:r>
            <a:endParaRPr/>
          </a:p>
        </p:txBody>
      </p:sp>
      <p:sp>
        <p:nvSpPr>
          <p:cNvPr id="184" name="Google Shape;184;p21"/>
          <p:cNvSpPr/>
          <p:nvPr/>
        </p:nvSpPr>
        <p:spPr>
          <a:xfrm>
            <a:off x="514350" y="2146554"/>
            <a:ext cx="13716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F35"/>
              </a:buClr>
              <a:buSzPts val="1800"/>
              <a:buFont typeface="Arial"/>
              <a:buNone/>
            </a:pPr>
            <a:r>
              <a:rPr b="1" lang="en" sz="1800">
                <a:solidFill>
                  <a:srgbClr val="141414"/>
                </a:solidFill>
                <a:latin typeface="Nunito"/>
                <a:ea typeface="Nunito"/>
                <a:cs typeface="Nunito"/>
                <a:sym typeface="Nunito"/>
              </a:rPr>
              <a:t>28</a:t>
            </a:r>
            <a:endParaRPr sz="18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85" name="Google Shape;185;p21"/>
          <p:cNvSpPr/>
          <p:nvPr/>
        </p:nvSpPr>
        <p:spPr>
          <a:xfrm>
            <a:off x="514350" y="2674620"/>
            <a:ext cx="37033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23"/>
              </a:buClr>
              <a:buSzPts val="900"/>
              <a:buFont typeface="Arial"/>
              <a:buNone/>
            </a:pPr>
            <a:r>
              <a:rPr lang="en" sz="900" b="1">
                <a:solidFill>
                  <a:srgbClr val="141414"/>
                </a:solidFill>
                <a:latin typeface="Nunito"/>
                <a:ea typeface="Nunito"/>
                <a:cs typeface="Nunito"/>
                <a:sym typeface="Nunito"/>
              </a:rPr>
              <a:t>Curated crafts listed across 24+ named Kenyan shops (KES 2,200–15,200)</a:t>
            </a:r>
            <a:endParaRPr sz="9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86" name="Google Shape;186;p21"/>
          <p:cNvSpPr/>
          <p:nvPr/>
        </p:nvSpPr>
        <p:spPr>
          <a:xfrm>
            <a:off x="4594860" y="2023110"/>
            <a:ext cx="4080510" cy="1097280"/>
          </a:xfrm>
          <a:prstGeom prst="roundRect">
            <a:avLst>
              <a:gd fmla="val 5000" name="adj"/>
            </a:avLst>
          </a:prstGeom>
          <a:solidFill>
            <a:srgbClr val="F7F9F8"/>
          </a:solidFill>
          <a:ln cap="flat" cmpd="sng" w="12700">
            <a:solidFill>
              <a:srgbClr val="DCE3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rgbClr val="141414"/>
                </a:solidFill>
              </a:rPr>
              <a:t/>
            </a:r>
            <a:endParaRPr/>
          </a:p>
        </p:txBody>
      </p:sp>
      <p:sp>
        <p:nvSpPr>
          <p:cNvPr id="187" name="Google Shape;187;p21"/>
          <p:cNvSpPr/>
          <p:nvPr/>
        </p:nvSpPr>
        <p:spPr>
          <a:xfrm>
            <a:off x="4800600" y="2146554"/>
            <a:ext cx="13716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F35"/>
              </a:buClr>
              <a:buSzPts val="1800"/>
              <a:buFont typeface="Arial"/>
              <a:buNone/>
            </a:pPr>
            <a:r>
              <a:rPr b="1" lang="en" sz="1800">
                <a:solidFill>
                  <a:srgbClr val="141414"/>
                </a:solidFill>
                <a:latin typeface="Nunito"/>
                <a:ea typeface="Nunito"/>
                <a:cs typeface="Nunito"/>
                <a:sym typeface="Nunito"/>
              </a:rPr>
              <a:t>15</a:t>
            </a:r>
            <a:endParaRPr sz="18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88" name="Google Shape;188;p21"/>
          <p:cNvSpPr/>
          <p:nvPr/>
        </p:nvSpPr>
        <p:spPr>
          <a:xfrm>
            <a:off x="4800600" y="2674620"/>
            <a:ext cx="37033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23"/>
              </a:buClr>
              <a:buSzPts val="900"/>
              <a:buFont typeface="Arial"/>
              <a:buNone/>
            </a:pPr>
            <a:r>
              <a:rPr lang="en" sz="900" b="1">
                <a:solidFill>
                  <a:srgbClr val="141414"/>
                </a:solidFill>
                <a:latin typeface="Nunito"/>
                <a:ea typeface="Nunito"/>
                <a:cs typeface="Nunito"/>
                <a:sym typeface="Nunito"/>
              </a:rPr>
              <a:t>Parks &amp; destinations mapped — 10 in Kenya + 5 across Africa</a:t>
            </a:r>
            <a:endParaRPr sz="9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89" name="Google Shape;189;p21"/>
          <p:cNvSpPr/>
          <p:nvPr/>
        </p:nvSpPr>
        <p:spPr>
          <a:xfrm>
            <a:off x="308610" y="3291840"/>
            <a:ext cx="4080510" cy="1097280"/>
          </a:xfrm>
          <a:prstGeom prst="roundRect">
            <a:avLst>
              <a:gd fmla="val 5000" name="adj"/>
            </a:avLst>
          </a:prstGeom>
          <a:solidFill>
            <a:srgbClr val="F7F9F8"/>
          </a:solidFill>
          <a:ln cap="flat" cmpd="sng" w="12700">
            <a:solidFill>
              <a:srgbClr val="DCE3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rgbClr val="141414"/>
                </a:solidFill>
              </a:rPr>
              <a:t/>
            </a:r>
            <a:endParaRPr/>
          </a:p>
        </p:txBody>
      </p:sp>
      <p:sp>
        <p:nvSpPr>
          <p:cNvPr id="190" name="Google Shape;190;p21"/>
          <p:cNvSpPr/>
          <p:nvPr/>
        </p:nvSpPr>
        <p:spPr>
          <a:xfrm>
            <a:off x="514350" y="3415284"/>
            <a:ext cx="13716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F35"/>
              </a:buClr>
              <a:buSzPts val="1800"/>
              <a:buFont typeface="Arial"/>
              <a:buNone/>
            </a:pPr>
            <a:r>
              <a:rPr b="1" lang="en" sz="1800">
                <a:solidFill>
                  <a:srgbClr val="141414"/>
                </a:solidFill>
                <a:latin typeface="Nunito"/>
                <a:ea typeface="Nunito"/>
                <a:cs typeface="Nunito"/>
                <a:sym typeface="Nunito"/>
              </a:rPr>
              <a:t>12</a:t>
            </a:r>
            <a:endParaRPr sz="18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91" name="Google Shape;191;p21"/>
          <p:cNvSpPr/>
          <p:nvPr/>
        </p:nvSpPr>
        <p:spPr>
          <a:xfrm>
            <a:off x="514350" y="3943350"/>
            <a:ext cx="37033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23"/>
              </a:buClr>
              <a:buSzPts val="900"/>
              <a:buFont typeface="Arial"/>
              <a:buNone/>
            </a:pPr>
            <a:r>
              <a:rPr lang="en" sz="900" b="1">
                <a:solidFill>
                  <a:srgbClr val="141414"/>
                </a:solidFill>
                <a:latin typeface="Nunito"/>
                <a:ea typeface="Nunito"/>
                <a:cs typeface="Nunito"/>
                <a:sym typeface="Nunito"/>
              </a:rPr>
              <a:t>Vetted student guides from 12 Kenyan universities</a:t>
            </a:r>
            <a:endParaRPr sz="9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92" name="Google Shape;192;p21"/>
          <p:cNvSpPr/>
          <p:nvPr/>
        </p:nvSpPr>
        <p:spPr>
          <a:xfrm>
            <a:off x="4594860" y="3291840"/>
            <a:ext cx="4080510" cy="1097280"/>
          </a:xfrm>
          <a:prstGeom prst="roundRect">
            <a:avLst>
              <a:gd fmla="val 5000" name="adj"/>
            </a:avLst>
          </a:prstGeom>
          <a:solidFill>
            <a:srgbClr val="F7F9F8"/>
          </a:solidFill>
          <a:ln cap="flat" cmpd="sng" w="12700">
            <a:solidFill>
              <a:srgbClr val="DCE3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rgbClr val="141414"/>
                </a:solidFill>
              </a:rPr>
              <a:t/>
            </a:r>
            <a:endParaRPr/>
          </a:p>
        </p:txBody>
      </p:sp>
      <p:sp>
        <p:nvSpPr>
          <p:cNvPr id="193" name="Google Shape;193;p21"/>
          <p:cNvSpPr/>
          <p:nvPr/>
        </p:nvSpPr>
        <p:spPr>
          <a:xfrm>
            <a:off x="4800600" y="3415284"/>
            <a:ext cx="13716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F35"/>
              </a:buClr>
              <a:buSzPts val="1800"/>
              <a:buFont typeface="Arial"/>
              <a:buNone/>
            </a:pPr>
            <a:r>
              <a:rPr b="1" lang="en" sz="1800">
                <a:solidFill>
                  <a:srgbClr val="141414"/>
                </a:solidFill>
                <a:latin typeface="Nunito"/>
                <a:ea typeface="Nunito"/>
                <a:cs typeface="Nunito"/>
                <a:sym typeface="Nunito"/>
              </a:rPr>
              <a:t>1</a:t>
            </a:r>
            <a:endParaRPr sz="18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94" name="Google Shape;194;p21"/>
          <p:cNvSpPr/>
          <p:nvPr/>
        </p:nvSpPr>
        <p:spPr>
          <a:xfrm>
            <a:off x="4800600" y="3943350"/>
            <a:ext cx="37033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23"/>
              </a:buClr>
              <a:buSzPts val="900"/>
              <a:buFont typeface="Arial"/>
              <a:buNone/>
            </a:pPr>
            <a:r>
              <a:rPr lang="en" sz="900" b="1">
                <a:solidFill>
                  <a:srgbClr val="141414"/>
                </a:solidFill>
                <a:latin typeface="Nunito"/>
                <a:ea typeface="Nunito"/>
                <a:cs typeface="Nunito"/>
                <a:sym typeface="Nunito"/>
              </a:rPr>
              <a:t>Working M-Pesa STK Push — live gateway, phone validation &amp; status polling</a:t>
            </a:r>
            <a:endParaRPr sz="9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.png" id="200" name="Google Shape;20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8610" y="240030"/>
            <a:ext cx="1062990" cy="4357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oter.png" id="201" name="Google Shape;201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08910" y="39602"/>
            <a:ext cx="4526280" cy="282725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2"/>
          <p:cNvSpPr/>
          <p:nvPr/>
        </p:nvSpPr>
        <p:spPr>
          <a:xfrm>
            <a:off x="8215884" y="240030"/>
            <a:ext cx="4114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28F35"/>
              </a:buClr>
              <a:buSzPts val="1700"/>
              <a:buFont typeface="Arial"/>
              <a:buNone/>
            </a:pPr>
            <a:r>
              <a:rPr b="1" lang="en" sz="1700">
                <a:solidFill>
                  <a:srgbClr val="141414"/>
                </a:solidFill>
                <a:latin typeface="Google Sans"/>
                <a:ea typeface="Google Sans"/>
                <a:cs typeface="Google Sans"/>
                <a:sym typeface="Google Sans"/>
              </a:rPr>
              <a:t>07</a:t>
            </a:r>
            <a:endParaRPr sz="17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03" name="Google Shape;203;p22"/>
          <p:cNvSpPr/>
          <p:nvPr/>
        </p:nvSpPr>
        <p:spPr>
          <a:xfrm>
            <a:off x="6672834" y="548640"/>
            <a:ext cx="195453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573"/>
              </a:buClr>
              <a:buSzPts val="800"/>
              <a:buFont typeface="Arial"/>
              <a:buNone/>
            </a:pPr>
            <a:r>
              <a:rPr b="1" lang="en" sz="1000">
                <a:solidFill>
                  <a:srgbClr val="141414"/>
                </a:solidFill>
                <a:latin typeface="Google Sans"/>
                <a:ea typeface="Google Sans"/>
                <a:cs typeface="Google Sans"/>
                <a:sym typeface="Google Sans"/>
              </a:rPr>
              <a:t>COMPETITION</a:t>
            </a:r>
            <a:endParaRPr sz="8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04" name="Google Shape;204;p22"/>
          <p:cNvSpPr/>
          <p:nvPr/>
        </p:nvSpPr>
        <p:spPr>
          <a:xfrm>
            <a:off x="308610" y="1062990"/>
            <a:ext cx="6515100" cy="5829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23"/>
              </a:buClr>
              <a:buSzPts val="2400"/>
              <a:buFont typeface="Arial"/>
              <a:buNone/>
            </a:pPr>
            <a:r>
              <a:rPr b="1" lang="en" sz="2400">
                <a:solidFill>
                  <a:srgbClr val="141414"/>
                </a:solidFill>
                <a:latin typeface="Google Sans"/>
                <a:ea typeface="Google Sans"/>
                <a:cs typeface="Google Sans"/>
                <a:sym typeface="Google Sans"/>
              </a:rPr>
              <a:t>Competitive Landscape</a:t>
            </a:r>
            <a:endParaRPr sz="24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05" name="Google Shape;205;p22"/>
          <p:cNvSpPr/>
          <p:nvPr/>
        </p:nvSpPr>
        <p:spPr>
          <a:xfrm>
            <a:off x="308610" y="1591056"/>
            <a:ext cx="67208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F35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141414"/>
                </a:solidFill>
                <a:latin typeface="Google Sans"/>
                <a:ea typeface="Google Sans"/>
                <a:cs typeface="Google Sans"/>
                <a:sym typeface="Google Sans"/>
              </a:rPr>
              <a:t>Where you sit versus alternatives</a:t>
            </a:r>
            <a:endParaRPr sz="11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cxnSp>
        <p:nvCxnSpPr>
          <p:cNvPr id="206" name="Google Shape;206;p22"/>
          <p:cNvCxnSpPr/>
          <p:nvPr/>
        </p:nvCxnSpPr>
        <p:spPr>
          <a:xfrm>
            <a:off x="857250" y="2571750"/>
            <a:ext cx="5212080" cy="0"/>
          </a:xfrm>
          <a:prstGeom prst="straightConnector1">
            <a:avLst/>
          </a:prstGeom>
          <a:noFill/>
          <a:ln cap="flat" cmpd="sng" w="19050">
            <a:solidFill>
              <a:srgbClr val="DCE3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7" name="Google Shape;207;p22"/>
          <p:cNvCxnSpPr/>
          <p:nvPr/>
        </p:nvCxnSpPr>
        <p:spPr>
          <a:xfrm>
            <a:off x="3223260" y="1988820"/>
            <a:ext cx="0" cy="2743200"/>
          </a:xfrm>
          <a:prstGeom prst="straightConnector1">
            <a:avLst/>
          </a:prstGeom>
          <a:noFill/>
          <a:ln cap="flat" cmpd="sng" w="19050">
            <a:solidFill>
              <a:srgbClr val="DCE3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8" name="Google Shape;208;p22"/>
          <p:cNvSpPr/>
          <p:nvPr/>
        </p:nvSpPr>
        <p:spPr>
          <a:xfrm>
            <a:off x="548640" y="1714500"/>
            <a:ext cx="534924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573"/>
              </a:buClr>
              <a:buSzPts val="800"/>
              <a:buFont typeface="Arial"/>
              <a:buNone/>
            </a:pPr>
            <a:r>
              <a:rPr i="1" lang="en" sz="1000" b="1">
                <a:solidFill>
                  <a:srgbClr val="141414"/>
                </a:solidFill>
                <a:latin typeface="Nunito"/>
                <a:ea typeface="Nunito"/>
                <a:cs typeface="Nunito"/>
                <a:sym typeface="Nunito"/>
              </a:rPr>
              <a:t>Kenya-native payments &amp; verified local shops/guides →</a:t>
            </a:r>
            <a:endParaRPr sz="8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09" name="Google Shape;209;p22"/>
          <p:cNvSpPr/>
          <p:nvPr/>
        </p:nvSpPr>
        <p:spPr>
          <a:xfrm>
            <a:off x="548640" y="4786884"/>
            <a:ext cx="534924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573"/>
              </a:buClr>
              <a:buSzPts val="800"/>
              <a:buFont typeface="Arial"/>
              <a:buNone/>
            </a:pPr>
            <a:r>
              <a:rPr i="1" lang="en" sz="1000" b="1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rPr>
              <a:t>Breadth of Kenya travel experience ↑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2"/>
          <p:cNvSpPr/>
          <p:nvPr/>
        </p:nvSpPr>
        <p:spPr>
          <a:xfrm>
            <a:off x="2846070" y="2983230"/>
            <a:ext cx="754380" cy="754380"/>
          </a:xfrm>
          <a:prstGeom prst="ellipse">
            <a:avLst/>
          </a:prstGeom>
          <a:solidFill>
            <a:srgbClr val="028F35">
              <a:alpha val="85098"/>
            </a:srgbClr>
          </a:solidFill>
          <a:ln cap="flat" cmpd="sng" w="19050">
            <a:solidFill>
              <a:srgbClr val="028F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rgbClr val="141414"/>
                </a:solidFill>
              </a:rPr>
              <a:t/>
            </a:r>
            <a:endParaRPr/>
          </a:p>
        </p:txBody>
      </p:sp>
      <p:sp>
        <p:nvSpPr>
          <p:cNvPr id="211" name="Google Shape;211;p22"/>
          <p:cNvSpPr/>
          <p:nvPr/>
        </p:nvSpPr>
        <p:spPr>
          <a:xfrm>
            <a:off x="2846070" y="3257550"/>
            <a:ext cx="7543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lang="en" sz="1000">
                <a:solidFill>
                  <a:srgbClr val="141414"/>
                </a:solidFill>
                <a:latin typeface="Nunito"/>
                <a:ea typeface="Nunito"/>
                <a:cs typeface="Nunito"/>
                <a:sym typeface="Nunito"/>
              </a:rPr>
              <a:t>Aurora Travels</a:t>
            </a:r>
            <a:endParaRPr sz="8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12" name="Google Shape;212;p22"/>
          <p:cNvSpPr/>
          <p:nvPr/>
        </p:nvSpPr>
        <p:spPr>
          <a:xfrm>
            <a:off x="1508760" y="2674620"/>
            <a:ext cx="514350" cy="514350"/>
          </a:xfrm>
          <a:prstGeom prst="ellipse">
            <a:avLst/>
          </a:prstGeom>
          <a:solidFill>
            <a:srgbClr val="6B7573">
              <a:alpha val="70196"/>
            </a:srgbClr>
          </a:solidFill>
          <a:ln cap="flat" cmpd="sng" w="12700">
            <a:solidFill>
              <a:srgbClr val="6B75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rgbClr val="141414"/>
                </a:solidFill>
              </a:rP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13" name="Google Shape;213;p22"/>
          <p:cNvSpPr/>
          <p:nvPr/>
        </p:nvSpPr>
        <p:spPr>
          <a:xfrm>
            <a:off x="1303020" y="3209544"/>
            <a:ext cx="92583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573"/>
              </a:buClr>
              <a:buSzPts val="700"/>
              <a:buFont typeface="Arial"/>
              <a:buNone/>
            </a:pPr>
            <a:r>
              <a:rPr lang="en" sz="1000" b="1">
                <a:solidFill>
                  <a:srgbClr val="141414"/>
                </a:solidFill>
                <a:latin typeface="Nunito"/>
                <a:ea typeface="Nunito"/>
                <a:cs typeface="Nunito"/>
                <a:sym typeface="Nunito"/>
              </a:rPr>
              <a:t>SafariBookings</a:t>
            </a:r>
            <a:endParaRPr sz="7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14" name="Google Shape;214;p22"/>
          <p:cNvSpPr/>
          <p:nvPr/>
        </p:nvSpPr>
        <p:spPr>
          <a:xfrm>
            <a:off x="4457700" y="3840480"/>
            <a:ext cx="514350" cy="514350"/>
          </a:xfrm>
          <a:prstGeom prst="ellipse">
            <a:avLst/>
          </a:prstGeom>
          <a:solidFill>
            <a:srgbClr val="6B7573">
              <a:alpha val="70196"/>
            </a:srgbClr>
          </a:solidFill>
          <a:ln cap="flat" cmpd="sng" w="12700">
            <a:solidFill>
              <a:srgbClr val="6B75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rgbClr val="141414"/>
                </a:solidFill>
              </a:rP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15" name="Google Shape;215;p22"/>
          <p:cNvSpPr/>
          <p:nvPr/>
        </p:nvSpPr>
        <p:spPr>
          <a:xfrm>
            <a:off x="4251960" y="4375404"/>
            <a:ext cx="92583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573"/>
              </a:buClr>
              <a:buSzPts val="700"/>
              <a:buFont typeface="Arial"/>
              <a:buNone/>
            </a:pPr>
            <a:r>
              <a:rPr lang="en" sz="1000" b="1">
                <a:solidFill>
                  <a:srgbClr val="141414"/>
                </a:solidFill>
                <a:latin typeface="Nunito"/>
                <a:ea typeface="Nunito"/>
                <a:cs typeface="Nunito"/>
                <a:sym typeface="Nunito"/>
              </a:rPr>
              <a:t>Viator / GYG / Klook</a:t>
            </a:r>
            <a:endParaRPr sz="7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16" name="Google Shape;216;p22"/>
          <p:cNvSpPr/>
          <p:nvPr/>
        </p:nvSpPr>
        <p:spPr>
          <a:xfrm>
            <a:off x="2674620" y="4251960"/>
            <a:ext cx="514350" cy="514350"/>
          </a:xfrm>
          <a:prstGeom prst="ellipse">
            <a:avLst/>
          </a:prstGeom>
          <a:solidFill>
            <a:srgbClr val="6B7573">
              <a:alpha val="70196"/>
            </a:srgbClr>
          </a:solidFill>
          <a:ln cap="flat" cmpd="sng" w="12700">
            <a:solidFill>
              <a:srgbClr val="6B75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rgbClr val="141414"/>
                </a:solidFill>
              </a:rP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17" name="Google Shape;217;p22"/>
          <p:cNvSpPr/>
          <p:nvPr/>
        </p:nvSpPr>
        <p:spPr>
          <a:xfrm>
            <a:off x="2468880" y="4786884"/>
            <a:ext cx="92583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573"/>
              </a:buClr>
              <a:buSzPts val="700"/>
              <a:buFont typeface="Arial"/>
              <a:buNone/>
            </a:pPr>
            <a:r>
              <a:rPr lang="en" sz="1000" b="1">
                <a:solidFill>
                  <a:srgbClr val="141414"/>
                </a:solidFill>
                <a:latin typeface="Nunito"/>
                <a:ea typeface="Nunito"/>
                <a:cs typeface="Nunito"/>
                <a:sym typeface="Nunito"/>
              </a:rPr>
              <a:t>Informal curios</a:t>
            </a:r>
            <a:endParaRPr sz="7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18" name="Google Shape;218;p22"/>
          <p:cNvSpPr/>
          <p:nvPr/>
        </p:nvSpPr>
        <p:spPr>
          <a:xfrm>
            <a:off x="6069330" y="1988820"/>
            <a:ext cx="2743200" cy="2743200"/>
          </a:xfrm>
          <a:prstGeom prst="roundRect">
            <a:avLst>
              <a:gd fmla="val 2000" name="adj"/>
            </a:avLst>
          </a:prstGeom>
          <a:solidFill>
            <a:srgbClr val="F7F9F8"/>
          </a:solidFill>
          <a:ln cap="flat" cmpd="sng" w="12700">
            <a:solidFill>
              <a:srgbClr val="DCE3E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rgbClr val="141414"/>
                </a:solidFill>
              </a:rPr>
              <a:t/>
            </a:r>
            <a:endParaRPr/>
          </a:p>
        </p:txBody>
      </p:sp>
      <p:sp>
        <p:nvSpPr>
          <p:cNvPr id="219" name="Google Shape;219;p22"/>
          <p:cNvSpPr/>
          <p:nvPr/>
        </p:nvSpPr>
        <p:spPr>
          <a:xfrm>
            <a:off x="6240780" y="2125980"/>
            <a:ext cx="240030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573"/>
              </a:buClr>
              <a:buSzPts val="900"/>
              <a:buFont typeface="Arial"/>
              <a:buNone/>
            </a:pPr>
            <a:r>
              <a:rPr i="1" lang="en" sz="900" b="1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rPr>
              <a:t>• Global OTAs charge 20–30% commission and don't touch M-Pesa or named artisan shops. Aurora does both, natively — where mobile money reaches ~98% of mobile subscriptions.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rPr b="1">
                <a:solidFill>
                  <a:srgbClr val="141414"/>
                </a:solidFill>
              </a:rPr>
              <a:t>• SafariBookings aggregates operator tours but does not process payment or sell crafts/guides directly. Viator, GetYourGuide and Klook are card-first and generic.</a:t>
            </a:r>
            <a:endParaRPr sz="9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573"/>
              </a:buClr>
              <a:buSzPts val="900"/>
              <a:buFont typeface="Arial"/>
              <a:buNone/>
            </a:pPr>
            <a:r>
              <a:rPr i="1" lang="en" sz="900" b="1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rPr>
              <a:t>• Defensible advantage: M-Pesa-native checkout + verified local shops/guides in one Kenya-first journey.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rPr b="1">
                <a:solidFill>
                  <a:srgbClr val="141414"/>
                </a:solidFill>
              </a:rP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573"/>
              </a:buClr>
              <a:buSzPts val="900"/>
              <a:buFont typeface="Arial"/>
              <a:buNone/>
            </a:pPr>
            <a:r>
              <a:rPr i="1" lang="en" sz="900" b="1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.png" id="225" name="Google Shape;22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8610" y="240030"/>
            <a:ext cx="1062990" cy="4357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png" id="226" name="Google Shape;226;p23"/>
          <p:cNvPicPr preferRelativeResize="0"/>
          <p:nvPr/>
        </p:nvPicPr>
        <p:blipFill rotWithShape="1">
          <a:blip r:embed="rId4">
            <a:alphaModFix amt="22000"/>
          </a:blip>
          <a:srcRect b="0" l="0" r="0" t="0"/>
          <a:stretch/>
        </p:blipFill>
        <p:spPr>
          <a:xfrm>
            <a:off x="2719197" y="1559364"/>
            <a:ext cx="3703320" cy="22305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oter.png" id="227" name="Google Shape;227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307717" y="4709899"/>
            <a:ext cx="4526280" cy="282725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3"/>
          <p:cNvSpPr/>
          <p:nvPr/>
        </p:nvSpPr>
        <p:spPr>
          <a:xfrm>
            <a:off x="8350949" y="240025"/>
            <a:ext cx="447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28F35"/>
              </a:buClr>
              <a:buSzPts val="1700"/>
              <a:buFont typeface="Arial"/>
              <a:buNone/>
            </a:pPr>
            <a:r>
              <a:rPr b="1" lang="en" sz="1700">
                <a:solidFill>
                  <a:srgbClr val="141414"/>
                </a:solidFill>
                <a:latin typeface="Google Sans"/>
                <a:ea typeface="Google Sans"/>
                <a:cs typeface="Google Sans"/>
                <a:sym typeface="Google Sans"/>
              </a:rPr>
              <a:t>08</a:t>
            </a:r>
            <a:endParaRPr sz="17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29" name="Google Shape;229;p23"/>
          <p:cNvSpPr/>
          <p:nvPr/>
        </p:nvSpPr>
        <p:spPr>
          <a:xfrm>
            <a:off x="6672824" y="548635"/>
            <a:ext cx="21255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573"/>
              </a:buClr>
              <a:buSzPts val="800"/>
              <a:buFont typeface="Arial"/>
              <a:buNone/>
            </a:pPr>
            <a:r>
              <a:rPr b="1" lang="en" sz="1000">
                <a:solidFill>
                  <a:srgbClr val="141414"/>
                </a:solidFill>
                <a:latin typeface="Google Sans"/>
                <a:ea typeface="Google Sans"/>
                <a:cs typeface="Google Sans"/>
                <a:sym typeface="Google Sans"/>
              </a:rPr>
              <a:t>GO-TO-MARKET</a:t>
            </a:r>
            <a:endParaRPr sz="8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30" name="Google Shape;230;p23"/>
          <p:cNvSpPr/>
          <p:nvPr/>
        </p:nvSpPr>
        <p:spPr>
          <a:xfrm>
            <a:off x="308610" y="1062990"/>
            <a:ext cx="6515100" cy="5829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23"/>
              </a:buClr>
              <a:buSzPts val="2400"/>
              <a:buFont typeface="Arial"/>
              <a:buNone/>
            </a:pPr>
            <a:r>
              <a:rPr b="1" lang="en" sz="2400">
                <a:solidFill>
                  <a:srgbClr val="141414"/>
                </a:solidFill>
                <a:latin typeface="Google Sans"/>
                <a:ea typeface="Google Sans"/>
                <a:cs typeface="Google Sans"/>
                <a:sym typeface="Google Sans"/>
              </a:rPr>
              <a:t>Go-To-Market Strategy</a:t>
            </a:r>
            <a:endParaRPr sz="24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31" name="Google Shape;231;p23"/>
          <p:cNvSpPr/>
          <p:nvPr/>
        </p:nvSpPr>
        <p:spPr>
          <a:xfrm>
            <a:off x="308610" y="1591056"/>
            <a:ext cx="67208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F35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141414"/>
                </a:solidFill>
                <a:latin typeface="Google Sans"/>
                <a:ea typeface="Google Sans"/>
                <a:cs typeface="Google Sans"/>
                <a:sym typeface="Google Sans"/>
              </a:rPr>
              <a:t>How Aurora Travels acquires and scales users</a:t>
            </a:r>
            <a:endParaRPr sz="11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32" name="Google Shape;232;p23"/>
          <p:cNvSpPr/>
          <p:nvPr/>
        </p:nvSpPr>
        <p:spPr>
          <a:xfrm>
            <a:off x="308610" y="1988820"/>
            <a:ext cx="2743200" cy="377190"/>
          </a:xfrm>
          <a:prstGeom prst="roundRect">
            <a:avLst>
              <a:gd fmla="val 10909" name="adj"/>
            </a:avLst>
          </a:prstGeom>
          <a:solidFill>
            <a:srgbClr val="028F35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rgbClr val="141414"/>
                </a:solidFill>
              </a:rPr>
              <a:t/>
            </a:r>
            <a:endParaRPr/>
          </a:p>
        </p:txBody>
      </p:sp>
      <p:sp>
        <p:nvSpPr>
          <p:cNvPr id="233" name="Google Shape;233;p23"/>
          <p:cNvSpPr/>
          <p:nvPr/>
        </p:nvSpPr>
        <p:spPr>
          <a:xfrm>
            <a:off x="308610" y="1988820"/>
            <a:ext cx="274320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lang="en" sz="1000">
                <a:solidFill>
                  <a:srgbClr val="141414"/>
                </a:solidFill>
                <a:latin typeface="Nunito"/>
                <a:ea typeface="Nunito"/>
                <a:cs typeface="Nunito"/>
                <a:sym typeface="Nunito"/>
              </a:rPr>
              <a:t>Phase 1 — Launch</a:t>
            </a:r>
            <a:endParaRPr sz="1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34" name="Google Shape;234;p23"/>
          <p:cNvSpPr/>
          <p:nvPr/>
        </p:nvSpPr>
        <p:spPr>
          <a:xfrm>
            <a:off x="308610" y="2434590"/>
            <a:ext cx="2743200" cy="1714500"/>
          </a:xfrm>
          <a:prstGeom prst="roundRect">
            <a:avLst>
              <a:gd fmla="val 3200" name="adj"/>
            </a:avLst>
          </a:prstGeom>
          <a:solidFill>
            <a:srgbClr val="F7F9F8"/>
          </a:solidFill>
          <a:ln cap="flat" cmpd="sng" w="12700">
            <a:solidFill>
              <a:srgbClr val="DCE3E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rgbClr val="141414"/>
                </a:solidFill>
              </a:rPr>
              <a:t/>
            </a:r>
            <a:endParaRPr/>
          </a:p>
        </p:txBody>
      </p:sp>
      <p:sp>
        <p:nvSpPr>
          <p:cNvPr id="235" name="Google Shape;235;p23"/>
          <p:cNvSpPr/>
          <p:nvPr/>
        </p:nvSpPr>
        <p:spPr>
          <a:xfrm>
            <a:off x="480060" y="2571750"/>
            <a:ext cx="2400300" cy="14401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573"/>
              </a:buClr>
              <a:buSzPts val="900"/>
              <a:buFont typeface="Arial"/>
              <a:buNone/>
            </a:pPr>
            <a:r>
              <a:rPr i="1" lang="en" sz="900" b="1">
                <a:solidFill>
                  <a:srgbClr val="141414"/>
                </a:solidFill>
                <a:latin typeface="Nunito"/>
                <a:ea typeface="Nunito"/>
                <a:cs typeface="Nunito"/>
                <a:sym typeface="Nunito"/>
              </a:rPr>
              <a:t>Nairobi and the Maasai Mara gateway (Narok). Onboard shop partners already mapped — Maasai Market Nairobi, Tabaka Soapstone (Kisii), Wamunyu Carvers (Machakos), Kazuri Beads — and the first guide cohort from partner universities. Target: 40 shops, 40 guides, first 5,000 paid transactions.</a:t>
            </a:r>
            <a:endParaRPr sz="9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36" name="Google Shape;236;p23"/>
          <p:cNvSpPr/>
          <p:nvPr/>
        </p:nvSpPr>
        <p:spPr>
          <a:xfrm>
            <a:off x="3223260" y="1988820"/>
            <a:ext cx="2743200" cy="377190"/>
          </a:xfrm>
          <a:prstGeom prst="roundRect">
            <a:avLst>
              <a:gd fmla="val 10909" name="adj"/>
            </a:avLst>
          </a:prstGeom>
          <a:solidFill>
            <a:srgbClr val="028F35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rgbClr val="141414"/>
                </a:solidFill>
              </a:rPr>
              <a:t/>
            </a:r>
            <a:endParaRPr/>
          </a:p>
        </p:txBody>
      </p:sp>
      <p:sp>
        <p:nvSpPr>
          <p:cNvPr id="237" name="Google Shape;237;p23"/>
          <p:cNvSpPr/>
          <p:nvPr/>
        </p:nvSpPr>
        <p:spPr>
          <a:xfrm>
            <a:off x="3223260" y="1988820"/>
            <a:ext cx="274320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lang="en" sz="1000">
                <a:solidFill>
                  <a:srgbClr val="141414"/>
                </a:solidFill>
                <a:latin typeface="Nunito"/>
                <a:ea typeface="Nunito"/>
                <a:cs typeface="Nunito"/>
                <a:sym typeface="Nunito"/>
              </a:rPr>
              <a:t>Phase 2 — Scale</a:t>
            </a:r>
            <a:endParaRPr sz="1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38" name="Google Shape;238;p23"/>
          <p:cNvSpPr/>
          <p:nvPr/>
        </p:nvSpPr>
        <p:spPr>
          <a:xfrm>
            <a:off x="3223260" y="2434590"/>
            <a:ext cx="2743200" cy="1714500"/>
          </a:xfrm>
          <a:prstGeom prst="roundRect">
            <a:avLst>
              <a:gd fmla="val 3200" name="adj"/>
            </a:avLst>
          </a:prstGeom>
          <a:solidFill>
            <a:srgbClr val="F7F9F8"/>
          </a:solidFill>
          <a:ln cap="flat" cmpd="sng" w="12700">
            <a:solidFill>
              <a:srgbClr val="DCE3E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rgbClr val="141414"/>
                </a:solidFill>
              </a:rPr>
              <a:t/>
            </a:r>
            <a:endParaRPr/>
          </a:p>
        </p:txBody>
      </p:sp>
      <p:sp>
        <p:nvSpPr>
          <p:cNvPr id="239" name="Google Shape;239;p23"/>
          <p:cNvSpPr/>
          <p:nvPr/>
        </p:nvSpPr>
        <p:spPr>
          <a:xfrm>
            <a:off x="3394710" y="2571750"/>
            <a:ext cx="2400300" cy="14401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573"/>
              </a:buClr>
              <a:buSzPts val="900"/>
              <a:buFont typeface="Arial"/>
              <a:buNone/>
            </a:pPr>
            <a:r>
              <a:rPr i="1" lang="en" sz="900" b="1">
                <a:solidFill>
                  <a:srgbClr val="141414"/>
                </a:solidFill>
                <a:latin typeface="Nunito"/>
                <a:ea typeface="Nunito"/>
                <a:cs typeface="Nunito"/>
                <a:sym typeface="Nunito"/>
              </a:rPr>
              <a:t>Extend across more of Kenya's 47 counties toward the government's 2027 ambition of 5.5M international arrivals and KES 1T tourism earnings. Prioritise 2025 top source markets: United States, Uganda, Tanzania and the United Kingdom (Ministry report).</a:t>
            </a:r>
            <a:endParaRPr sz="9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0" name="Google Shape;240;p23"/>
          <p:cNvSpPr/>
          <p:nvPr/>
        </p:nvSpPr>
        <p:spPr>
          <a:xfrm>
            <a:off x="6137910" y="1988820"/>
            <a:ext cx="2743200" cy="377190"/>
          </a:xfrm>
          <a:prstGeom prst="roundRect">
            <a:avLst>
              <a:gd fmla="val 10909" name="adj"/>
            </a:avLst>
          </a:prstGeom>
          <a:solidFill>
            <a:srgbClr val="028F35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rgbClr val="141414"/>
                </a:solidFill>
              </a:rPr>
              <a:t/>
            </a:r>
            <a:endParaRPr/>
          </a:p>
        </p:txBody>
      </p:sp>
      <p:sp>
        <p:nvSpPr>
          <p:cNvPr id="241" name="Google Shape;241;p23"/>
          <p:cNvSpPr/>
          <p:nvPr/>
        </p:nvSpPr>
        <p:spPr>
          <a:xfrm>
            <a:off x="6137910" y="1988820"/>
            <a:ext cx="274320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lang="en" sz="1000">
                <a:solidFill>
                  <a:srgbClr val="141414"/>
                </a:solidFill>
                <a:latin typeface="Nunito"/>
                <a:ea typeface="Nunito"/>
                <a:cs typeface="Nunito"/>
                <a:sym typeface="Nunito"/>
              </a:rPr>
              <a:t>Phase 3 — Sustain</a:t>
            </a:r>
            <a:endParaRPr sz="1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2" name="Google Shape;242;p23"/>
          <p:cNvSpPr/>
          <p:nvPr/>
        </p:nvSpPr>
        <p:spPr>
          <a:xfrm>
            <a:off x="6137910" y="2434590"/>
            <a:ext cx="2743200" cy="1714500"/>
          </a:xfrm>
          <a:prstGeom prst="roundRect">
            <a:avLst>
              <a:gd fmla="val 3200" name="adj"/>
            </a:avLst>
          </a:prstGeom>
          <a:solidFill>
            <a:srgbClr val="F7F9F8"/>
          </a:solidFill>
          <a:ln cap="flat" cmpd="sng" w="12700">
            <a:solidFill>
              <a:srgbClr val="DCE3E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rgbClr val="141414"/>
                </a:solidFill>
              </a:rPr>
              <a:t/>
            </a:r>
            <a:endParaRPr/>
          </a:p>
        </p:txBody>
      </p:sp>
      <p:sp>
        <p:nvSpPr>
          <p:cNvPr id="243" name="Google Shape;243;p23"/>
          <p:cNvSpPr/>
          <p:nvPr/>
        </p:nvSpPr>
        <p:spPr>
          <a:xfrm>
            <a:off x="6309360" y="2571750"/>
            <a:ext cx="2400300" cy="14401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573"/>
              </a:buClr>
              <a:buSzPts val="900"/>
              <a:buFont typeface="Arial"/>
              <a:buNone/>
            </a:pPr>
            <a:r>
              <a:rPr i="1" lang="en" sz="900" b="1">
                <a:solidFill>
                  <a:srgbClr val="141414"/>
                </a:solidFill>
                <a:latin typeface="Nunito"/>
                <a:ea typeface="Nunito"/>
                <a:cs typeface="Nunito"/>
                <a:sym typeface="Nunito"/>
              </a:rPr>
              <a:t>Expand into the shared East African safari circuit (Tanzania, Uganda) that Aurora's park map already spans — the Great Rift / Mara–Serengeti ecosystem — with cross-border M-Pesa and craft corridors.</a:t>
            </a:r>
            <a:endParaRPr sz="9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.png" id="249" name="Google Shape;24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8610" y="240030"/>
            <a:ext cx="1062990" cy="4357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oter.png" id="250" name="Google Shape;250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07717" y="4709899"/>
            <a:ext cx="4526280" cy="282725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4"/>
          <p:cNvSpPr/>
          <p:nvPr/>
        </p:nvSpPr>
        <p:spPr>
          <a:xfrm>
            <a:off x="8215884" y="240030"/>
            <a:ext cx="4114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28F35"/>
              </a:buClr>
              <a:buSzPts val="1700"/>
              <a:buFont typeface="Arial"/>
              <a:buNone/>
            </a:pPr>
            <a:r>
              <a:rPr b="1" lang="en" sz="1700">
                <a:solidFill>
                  <a:srgbClr val="141414"/>
                </a:solidFill>
                <a:latin typeface="Google Sans"/>
                <a:ea typeface="Google Sans"/>
                <a:cs typeface="Google Sans"/>
                <a:sym typeface="Google Sans"/>
              </a:rPr>
              <a:t>09</a:t>
            </a:r>
            <a:endParaRPr sz="17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52" name="Google Shape;252;p24"/>
          <p:cNvSpPr/>
          <p:nvPr/>
        </p:nvSpPr>
        <p:spPr>
          <a:xfrm>
            <a:off x="6672834" y="548640"/>
            <a:ext cx="195453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573"/>
              </a:buClr>
              <a:buSzPts val="800"/>
              <a:buFont typeface="Arial"/>
              <a:buNone/>
            </a:pPr>
            <a:r>
              <a:rPr b="1" lang="en" sz="1000">
                <a:solidFill>
                  <a:srgbClr val="141414"/>
                </a:solidFill>
                <a:latin typeface="Google Sans"/>
                <a:ea typeface="Google Sans"/>
                <a:cs typeface="Google Sans"/>
                <a:sym typeface="Google Sans"/>
              </a:rPr>
              <a:t>THE TEAM</a:t>
            </a:r>
            <a:endParaRPr sz="8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53" name="Google Shape;253;p24"/>
          <p:cNvSpPr/>
          <p:nvPr/>
        </p:nvSpPr>
        <p:spPr>
          <a:xfrm>
            <a:off x="308610" y="1062990"/>
            <a:ext cx="6515100" cy="5829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23"/>
              </a:buClr>
              <a:buSzPts val="2400"/>
              <a:buFont typeface="Arial"/>
              <a:buNone/>
            </a:pPr>
            <a:r>
              <a:rPr b="1" lang="en" sz="2400">
                <a:solidFill>
                  <a:srgbClr val="141414"/>
                </a:solidFill>
                <a:latin typeface="Google Sans"/>
                <a:ea typeface="Google Sans"/>
                <a:cs typeface="Google Sans"/>
                <a:sym typeface="Google Sans"/>
              </a:rPr>
              <a:t>Team</a:t>
            </a:r>
            <a:endParaRPr sz="24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54" name="Google Shape;254;p24"/>
          <p:cNvSpPr/>
          <p:nvPr/>
        </p:nvSpPr>
        <p:spPr>
          <a:xfrm>
            <a:off x="308610" y="1591056"/>
            <a:ext cx="67208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F35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141414"/>
                </a:solidFill>
                <a:latin typeface="Google Sans"/>
                <a:ea typeface="Google Sans"/>
                <a:cs typeface="Google Sans"/>
                <a:sym typeface="Google Sans"/>
              </a:rPr>
              <a:t>Why this team can build it</a:t>
            </a:r>
            <a:endParaRPr sz="11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55" name="Google Shape;255;p24"/>
          <p:cNvSpPr/>
          <p:nvPr/>
        </p:nvSpPr>
        <p:spPr>
          <a:xfrm>
            <a:off x="960120" y="2023110"/>
            <a:ext cx="788670" cy="788670"/>
          </a:xfrm>
          <a:prstGeom prst="ellipse">
            <a:avLst/>
          </a:prstGeom>
          <a:solidFill>
            <a:srgbClr val="F0F2F1"/>
          </a:solidFill>
          <a:ln cap="flat" cmpd="sng" w="12700">
            <a:solidFill>
              <a:srgbClr val="DCE3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rgbClr val="141414"/>
                </a:solidFill>
              </a:rPr>
              <a:t/>
            </a:r>
            <a:endParaRPr/>
          </a:p>
        </p:txBody>
      </p:sp>
      <p:sp>
        <p:nvSpPr>
          <p:cNvPr id="256" name="Google Shape;256;p24"/>
          <p:cNvSpPr/>
          <p:nvPr/>
        </p:nvSpPr>
        <p:spPr>
          <a:xfrm>
            <a:off x="960120" y="2297430"/>
            <a:ext cx="78867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573"/>
              </a:buClr>
              <a:buSzPts val="700"/>
              <a:buFont typeface="Arial"/>
              <a:buNone/>
            </a:pPr>
            <a:r>
              <a:rPr i="1" lang="en" sz="1000" b="1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rPr>
              <a:t>PO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4"/>
          <p:cNvSpPr/>
          <p:nvPr/>
        </p:nvSpPr>
        <p:spPr>
          <a:xfrm>
            <a:off x="308610" y="2948940"/>
            <a:ext cx="209169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323"/>
              </a:buClr>
              <a:buSzPts val="1000"/>
              <a:buFont typeface="Arial"/>
              <a:buNone/>
            </a:pPr>
            <a:r>
              <a:rPr b="1" lang="en" sz="1000">
                <a:solidFill>
                  <a:srgbClr val="141414"/>
                </a:solidFill>
                <a:latin typeface="Nunito"/>
                <a:ea typeface="Nunito"/>
                <a:cs typeface="Nunito"/>
                <a:sym typeface="Nunito"/>
              </a:rPr>
              <a:t>ProximaOpal</a:t>
            </a:r>
            <a:endParaRPr sz="1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58" name="Google Shape;258;p24"/>
          <p:cNvSpPr/>
          <p:nvPr/>
        </p:nvSpPr>
        <p:spPr>
          <a:xfrm>
            <a:off x="308610" y="3188970"/>
            <a:ext cx="209169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F35"/>
              </a:buClr>
              <a:buSzPts val="800"/>
              <a:buFont typeface="Arial"/>
              <a:buNone/>
            </a:pPr>
            <a:r>
              <a:rPr b="1" lang="en" sz="1000">
                <a:solidFill>
                  <a:srgbClr val="141414"/>
                </a:solidFill>
                <a:latin typeface="Nunito"/>
                <a:ea typeface="Nunito"/>
                <a:cs typeface="Nunito"/>
                <a:sym typeface="Nunito"/>
              </a:rPr>
              <a:t>Founder &amp; Full-Stack Product Engineer</a:t>
            </a:r>
            <a:endParaRPr sz="8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59" name="Google Shape;259;p24"/>
          <p:cNvSpPr/>
          <p:nvPr/>
        </p:nvSpPr>
        <p:spPr>
          <a:xfrm>
            <a:off x="411480" y="3429000"/>
            <a:ext cx="18859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573"/>
              </a:buClr>
              <a:buSzPts val="700"/>
              <a:buFont typeface="Arial"/>
              <a:buNone/>
            </a:pPr>
            <a:r>
              <a:rPr i="1" lang="en" sz="1000" b="1">
                <a:solidFill>
                  <a:srgbClr val="141414"/>
                </a:solidFill>
                <a:latin typeface="Nunito"/>
                <a:ea typeface="Nunito"/>
                <a:cs typeface="Nunito"/>
                <a:sym typeface="Nunito"/>
              </a:rPr>
              <a:t>Web developer and UI/UX designer based in Nairobi. Designed, built and shipped Aurora Travels solo: frontend, interactive maps, craft marketplace and live M-Pesa STK Push.</a:t>
            </a:r>
            <a:endParaRPr sz="7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60" name="Google Shape;260;p24"/>
          <p:cNvSpPr/>
          <p:nvPr/>
        </p:nvSpPr>
        <p:spPr>
          <a:xfrm>
            <a:off x="3106674" y="2023110"/>
            <a:ext cx="788670" cy="788670"/>
          </a:xfrm>
          <a:prstGeom prst="ellipse">
            <a:avLst/>
          </a:prstGeom>
          <a:solidFill>
            <a:srgbClr val="F0F2F1"/>
          </a:solidFill>
          <a:ln cap="flat" cmpd="sng" w="12700">
            <a:solidFill>
              <a:srgbClr val="DCE3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rgbClr val="141414"/>
                </a:solidFill>
              </a:rPr>
              <a:t/>
            </a:r>
            <a:endParaRPr/>
          </a:p>
        </p:txBody>
      </p:sp>
      <p:sp>
        <p:nvSpPr>
          <p:cNvPr id="261" name="Google Shape;261;p24"/>
          <p:cNvSpPr/>
          <p:nvPr/>
        </p:nvSpPr>
        <p:spPr>
          <a:xfrm>
            <a:off x="3106674" y="2297430"/>
            <a:ext cx="78867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573"/>
              </a:buClr>
              <a:buSzPts val="700"/>
              <a:buFont typeface="Arial"/>
              <a:buNone/>
            </a:pPr>
            <a:r>
              <a:rPr i="1" lang="en" sz="1000" b="1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rPr>
              <a:t>—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4"/>
          <p:cNvSpPr/>
          <p:nvPr/>
        </p:nvSpPr>
        <p:spPr>
          <a:xfrm>
            <a:off x="2455164" y="2948940"/>
            <a:ext cx="209169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323"/>
              </a:buClr>
              <a:buSzPts val="1000"/>
              <a:buFont typeface="Arial"/>
              <a:buNone/>
            </a:pPr>
            <a:r>
              <a:rPr b="1" lang="en" sz="1000">
                <a:solidFill>
                  <a:srgbClr val="141414"/>
                </a:solidFill>
                <a:latin typeface="Nunito"/>
                <a:ea typeface="Nunito"/>
                <a:cs typeface="Nunito"/>
                <a:sym typeface="Nunito"/>
              </a:rPr>
              <a:t>Open role</a:t>
            </a:r>
            <a:endParaRPr sz="1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63" name="Google Shape;263;p24"/>
          <p:cNvSpPr/>
          <p:nvPr/>
        </p:nvSpPr>
        <p:spPr>
          <a:xfrm>
            <a:off x="2455164" y="3188970"/>
            <a:ext cx="209169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F35"/>
              </a:buClr>
              <a:buSzPts val="800"/>
              <a:buFont typeface="Arial"/>
              <a:buNone/>
            </a:pPr>
            <a:r>
              <a:rPr b="1" lang="en" sz="1000">
                <a:solidFill>
                  <a:srgbClr val="141414"/>
                </a:solidFill>
                <a:latin typeface="Nunito"/>
                <a:ea typeface="Nunito"/>
                <a:cs typeface="Nunito"/>
                <a:sym typeface="Nunito"/>
              </a:rPr>
              <a:t>Tourism &amp; hospitality partnerships lead</a:t>
            </a:r>
            <a:endParaRPr sz="8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64" name="Google Shape;264;p24"/>
          <p:cNvSpPr/>
          <p:nvPr/>
        </p:nvSpPr>
        <p:spPr>
          <a:xfrm>
            <a:off x="2558034" y="3429000"/>
            <a:ext cx="18859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573"/>
              </a:buClr>
              <a:buSzPts val="700"/>
              <a:buFont typeface="Arial"/>
              <a:buNone/>
            </a:pPr>
            <a:r>
              <a:rPr i="1" lang="en" sz="1000" b="1">
                <a:solidFill>
                  <a:srgbClr val="141414"/>
                </a:solidFill>
                <a:latin typeface="Nunito"/>
                <a:ea typeface="Nunito"/>
                <a:cs typeface="Nunito"/>
                <a:sym typeface="Nunito"/>
              </a:rPr>
              <a:t>Formalize shop, park and guide agreements across Kenya.</a:t>
            </a:r>
            <a:endParaRPr sz="7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65" name="Google Shape;265;p24"/>
          <p:cNvSpPr/>
          <p:nvPr/>
        </p:nvSpPr>
        <p:spPr>
          <a:xfrm>
            <a:off x="5253228" y="2023110"/>
            <a:ext cx="788670" cy="788670"/>
          </a:xfrm>
          <a:prstGeom prst="ellipse">
            <a:avLst/>
          </a:prstGeom>
          <a:solidFill>
            <a:srgbClr val="F0F2F1"/>
          </a:solidFill>
          <a:ln cap="flat" cmpd="sng" w="12700">
            <a:solidFill>
              <a:srgbClr val="DCE3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rgbClr val="141414"/>
                </a:solidFill>
              </a:rPr>
              <a:t/>
            </a:r>
            <a:endParaRPr/>
          </a:p>
        </p:txBody>
      </p:sp>
      <p:sp>
        <p:nvSpPr>
          <p:cNvPr id="266" name="Google Shape;266;p24"/>
          <p:cNvSpPr/>
          <p:nvPr/>
        </p:nvSpPr>
        <p:spPr>
          <a:xfrm>
            <a:off x="5253228" y="2297430"/>
            <a:ext cx="78867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573"/>
              </a:buClr>
              <a:buSzPts val="700"/>
              <a:buFont typeface="Arial"/>
              <a:buNone/>
            </a:pPr>
            <a:r>
              <a:rPr i="1" lang="en" sz="1000" b="1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rPr>
              <a:t>—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4"/>
          <p:cNvSpPr/>
          <p:nvPr/>
        </p:nvSpPr>
        <p:spPr>
          <a:xfrm>
            <a:off x="4601718" y="2948940"/>
            <a:ext cx="209169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323"/>
              </a:buClr>
              <a:buSzPts val="1000"/>
              <a:buFont typeface="Arial"/>
              <a:buNone/>
            </a:pPr>
            <a:r>
              <a:rPr b="1" lang="en" sz="1000">
                <a:solidFill>
                  <a:srgbClr val="141414"/>
                </a:solidFill>
                <a:latin typeface="Nunito"/>
                <a:ea typeface="Nunito"/>
                <a:cs typeface="Nunito"/>
                <a:sym typeface="Nunito"/>
              </a:rPr>
              <a:t>Open role</a:t>
            </a:r>
            <a:endParaRPr sz="1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68" name="Google Shape;268;p24"/>
          <p:cNvSpPr/>
          <p:nvPr/>
        </p:nvSpPr>
        <p:spPr>
          <a:xfrm>
            <a:off x="4601718" y="3188970"/>
            <a:ext cx="209169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F35"/>
              </a:buClr>
              <a:buSzPts val="800"/>
              <a:buFont typeface="Arial"/>
              <a:buNone/>
            </a:pPr>
            <a:r>
              <a:rPr b="1" lang="en" sz="1000">
                <a:solidFill>
                  <a:srgbClr val="141414"/>
                </a:solidFill>
                <a:latin typeface="Nunito"/>
                <a:ea typeface="Nunito"/>
                <a:cs typeface="Nunito"/>
                <a:sym typeface="Nunito"/>
              </a:rPr>
              <a:t>Artisan network coordinator</a:t>
            </a:r>
            <a:endParaRPr sz="8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69" name="Google Shape;269;p24"/>
          <p:cNvSpPr/>
          <p:nvPr/>
        </p:nvSpPr>
        <p:spPr>
          <a:xfrm>
            <a:off x="4704588" y="3429000"/>
            <a:ext cx="18859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573"/>
              </a:buClr>
              <a:buSzPts val="700"/>
              <a:buFont typeface="Arial"/>
              <a:buNone/>
            </a:pPr>
            <a:r>
              <a:rPr i="1" lang="en" sz="1000" b="1">
                <a:solidFill>
                  <a:srgbClr val="141414"/>
                </a:solidFill>
                <a:latin typeface="Nunito"/>
                <a:ea typeface="Nunito"/>
                <a:cs typeface="Nunito"/>
                <a:sym typeface="Nunito"/>
              </a:rPr>
              <a:t>Onboard and verify craft shops county by county.</a:t>
            </a:r>
            <a:endParaRPr sz="7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70" name="Google Shape;270;p24"/>
          <p:cNvSpPr/>
          <p:nvPr/>
        </p:nvSpPr>
        <p:spPr>
          <a:xfrm>
            <a:off x="7399782" y="2023110"/>
            <a:ext cx="788670" cy="788670"/>
          </a:xfrm>
          <a:prstGeom prst="ellipse">
            <a:avLst/>
          </a:prstGeom>
          <a:solidFill>
            <a:srgbClr val="F0F2F1"/>
          </a:solidFill>
          <a:ln cap="flat" cmpd="sng" w="12700">
            <a:solidFill>
              <a:srgbClr val="DCE3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rgbClr val="141414"/>
                </a:solidFill>
              </a:rPr>
              <a:t/>
            </a:r>
            <a:endParaRPr/>
          </a:p>
        </p:txBody>
      </p:sp>
      <p:sp>
        <p:nvSpPr>
          <p:cNvPr id="271" name="Google Shape;271;p24"/>
          <p:cNvSpPr/>
          <p:nvPr/>
        </p:nvSpPr>
        <p:spPr>
          <a:xfrm>
            <a:off x="7399782" y="2297430"/>
            <a:ext cx="78867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573"/>
              </a:buClr>
              <a:buSzPts val="700"/>
              <a:buFont typeface="Arial"/>
              <a:buNone/>
            </a:pPr>
            <a:r>
              <a:rPr i="1" lang="en" sz="1000" b="1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rPr>
              <a:t>—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4"/>
          <p:cNvSpPr/>
          <p:nvPr/>
        </p:nvSpPr>
        <p:spPr>
          <a:xfrm>
            <a:off x="6748272" y="2948940"/>
            <a:ext cx="209169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323"/>
              </a:buClr>
              <a:buSzPts val="1000"/>
              <a:buFont typeface="Arial"/>
              <a:buNone/>
            </a:pPr>
            <a:r>
              <a:rPr b="1" lang="en" sz="1000">
                <a:solidFill>
                  <a:srgbClr val="141414"/>
                </a:solidFill>
                <a:latin typeface="Nunito"/>
                <a:ea typeface="Nunito"/>
                <a:cs typeface="Nunito"/>
                <a:sym typeface="Nunito"/>
              </a:rPr>
              <a:t>Open role</a:t>
            </a:r>
            <a:endParaRPr sz="1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73" name="Google Shape;273;p24"/>
          <p:cNvSpPr/>
          <p:nvPr/>
        </p:nvSpPr>
        <p:spPr>
          <a:xfrm>
            <a:off x="6748272" y="3188970"/>
            <a:ext cx="209169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F35"/>
              </a:buClr>
              <a:buSzPts val="800"/>
              <a:buFont typeface="Arial"/>
              <a:buNone/>
            </a:pPr>
            <a:r>
              <a:rPr b="1" lang="en" sz="1000">
                <a:solidFill>
                  <a:srgbClr val="141414"/>
                </a:solidFill>
                <a:latin typeface="Nunito"/>
                <a:ea typeface="Nunito"/>
                <a:cs typeface="Nunito"/>
                <a:sym typeface="Nunito"/>
              </a:rPr>
              <a:t>Growth / GTM support</a:t>
            </a:r>
            <a:endParaRPr sz="8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74" name="Google Shape;274;p24"/>
          <p:cNvSpPr/>
          <p:nvPr/>
        </p:nvSpPr>
        <p:spPr>
          <a:xfrm>
            <a:off x="6851142" y="3429000"/>
            <a:ext cx="18859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573"/>
              </a:buClr>
              <a:buSzPts val="700"/>
              <a:buFont typeface="Arial"/>
              <a:buNone/>
            </a:pPr>
            <a:r>
              <a:rPr i="1" lang="en" sz="1000" b="1">
                <a:solidFill>
                  <a:srgbClr val="141414"/>
                </a:solidFill>
                <a:latin typeface="Nunito"/>
                <a:ea typeface="Nunito"/>
                <a:cs typeface="Nunito"/>
                <a:sym typeface="Nunito"/>
              </a:rPr>
              <a:t>Run the Nairobi + Maasai Mara pilot launch.</a:t>
            </a:r>
            <a:endParaRPr sz="7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.png" id="280" name="Google Shape;28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8610" y="240030"/>
            <a:ext cx="1062990" cy="4357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png" id="281" name="Google Shape;281;p25"/>
          <p:cNvPicPr preferRelativeResize="0"/>
          <p:nvPr/>
        </p:nvPicPr>
        <p:blipFill rotWithShape="1">
          <a:blip r:embed="rId4">
            <a:alphaModFix amt="22000"/>
          </a:blip>
          <a:srcRect b="0" l="0" r="0" t="0"/>
          <a:stretch/>
        </p:blipFill>
        <p:spPr>
          <a:xfrm>
            <a:off x="2719197" y="1559364"/>
            <a:ext cx="3703320" cy="22305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oter.png" id="282" name="Google Shape;282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307717" y="4709899"/>
            <a:ext cx="4526280" cy="282725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5"/>
          <p:cNvSpPr/>
          <p:nvPr/>
        </p:nvSpPr>
        <p:spPr>
          <a:xfrm>
            <a:off x="8215884" y="240030"/>
            <a:ext cx="4114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28F35"/>
              </a:buClr>
              <a:buSzPts val="1700"/>
              <a:buFont typeface="Arial"/>
              <a:buNone/>
            </a:pPr>
            <a:r>
              <a:rPr b="1" lang="en" sz="1700">
                <a:solidFill>
                  <a:srgbClr val="141414"/>
                </a:solidFill>
                <a:latin typeface="Google Sans"/>
                <a:ea typeface="Google Sans"/>
                <a:cs typeface="Google Sans"/>
                <a:sym typeface="Google Sans"/>
              </a:rPr>
              <a:t>10</a:t>
            </a:r>
            <a:endParaRPr sz="17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84" name="Google Shape;284;p25"/>
          <p:cNvSpPr/>
          <p:nvPr/>
        </p:nvSpPr>
        <p:spPr>
          <a:xfrm>
            <a:off x="6672834" y="548640"/>
            <a:ext cx="195453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573"/>
              </a:buClr>
              <a:buSzPts val="800"/>
              <a:buFont typeface="Arial"/>
              <a:buNone/>
            </a:pPr>
            <a:r>
              <a:rPr b="1" lang="en" sz="1000">
                <a:solidFill>
                  <a:srgbClr val="141414"/>
                </a:solidFill>
                <a:latin typeface="Google Sans"/>
                <a:ea typeface="Google Sans"/>
                <a:cs typeface="Google Sans"/>
                <a:sym typeface="Google Sans"/>
              </a:rPr>
              <a:t>THE ASK</a:t>
            </a:r>
            <a:endParaRPr sz="8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85" name="Google Shape;285;p25"/>
          <p:cNvSpPr/>
          <p:nvPr/>
        </p:nvSpPr>
        <p:spPr>
          <a:xfrm>
            <a:off x="308610" y="1062990"/>
            <a:ext cx="6515100" cy="5829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323"/>
              </a:buClr>
              <a:buSzPts val="2400"/>
              <a:buFont typeface="Arial"/>
              <a:buNone/>
            </a:pPr>
            <a:r>
              <a:rPr b="1" lang="en" sz="2400">
                <a:solidFill>
                  <a:srgbClr val="141414"/>
                </a:solidFill>
                <a:latin typeface="Google Sans"/>
                <a:ea typeface="Google Sans"/>
                <a:cs typeface="Google Sans"/>
                <a:sym typeface="Google Sans"/>
              </a:rPr>
              <a:t>Financials &amp; The Ask</a:t>
            </a:r>
            <a:endParaRPr sz="24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86" name="Google Shape;286;p25"/>
          <p:cNvSpPr/>
          <p:nvPr/>
        </p:nvSpPr>
        <p:spPr>
          <a:xfrm>
            <a:off x="308610" y="1591056"/>
            <a:ext cx="67208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F35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141414"/>
                </a:solidFill>
                <a:latin typeface="Google Sans"/>
                <a:ea typeface="Google Sans"/>
                <a:cs typeface="Google Sans"/>
                <a:sym typeface="Google Sans"/>
              </a:rPr>
              <a:t>What Aurora Travels needs, and what it enables</a:t>
            </a:r>
            <a:endParaRPr sz="11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87" name="Google Shape;287;p25"/>
          <p:cNvSpPr/>
          <p:nvPr/>
        </p:nvSpPr>
        <p:spPr>
          <a:xfrm>
            <a:off x="308610" y="2023110"/>
            <a:ext cx="4046220" cy="2331720"/>
          </a:xfrm>
          <a:prstGeom prst="roundRect">
            <a:avLst>
              <a:gd fmla="val 2353" name="adj"/>
            </a:avLst>
          </a:prstGeom>
          <a:solidFill>
            <a:srgbClr val="EAF6EE"/>
          </a:solidFill>
          <a:ln cap="flat" cmpd="sng" w="12700">
            <a:solidFill>
              <a:srgbClr val="DCE3E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rgbClr val="141414"/>
                </a:solidFill>
              </a:rP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88" name="Google Shape;288;p25"/>
          <p:cNvSpPr/>
          <p:nvPr/>
        </p:nvSpPr>
        <p:spPr>
          <a:xfrm>
            <a:off x="480060" y="2160270"/>
            <a:ext cx="370332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573"/>
              </a:buClr>
              <a:buSzPts val="1000"/>
              <a:buFont typeface="Arial"/>
              <a:buNone/>
            </a:pPr>
            <a:r>
              <a:rPr i="1" lang="en" sz="1000" b="1">
                <a:solidFill>
                  <a:srgbClr val="141414"/>
                </a:solidFill>
                <a:latin typeface="Nunito"/>
                <a:ea typeface="Nunito"/>
                <a:cs typeface="Nunito"/>
                <a:sym typeface="Nunito"/>
              </a:rPr>
              <a:t>SEED / PARTNERSHIP CAPITAL</a:t>
            </a:r>
            <a:endParaRPr sz="1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rPr b="1">
                <a:solidFill>
                  <a:srgbClr val="141414"/>
                </a:solidFill>
              </a:rPr>
              <a:t>US$180,000 ≈ KES 23.4 million (at ~130 KES/USD) — 18-month Nairobi + Maasai Mara pilot.</a:t>
            </a:r>
            <a:endParaRPr sz="1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573"/>
              </a:buClr>
              <a:buSzPts val="1000"/>
              <a:buFont typeface="Arial"/>
              <a:buNone/>
            </a:pPr>
            <a:r>
              <a:rPr i="1" lang="en" sz="1000" b="1">
                <a:solidFill>
                  <a:srgbClr val="141414"/>
                </a:solidFill>
                <a:latin typeface="Nunito"/>
                <a:ea typeface="Nunito"/>
                <a:cs typeface="Nunito"/>
                <a:sym typeface="Nunito"/>
              </a:rPr>
              <a:t>Open to grant, equity, in-kind tourism partnerships, or blended support.</a:t>
            </a:r>
            <a:endParaRPr sz="1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573"/>
              </a:buClr>
              <a:buSzPts val="1000"/>
              <a:buFont typeface="Arial"/>
              <a:buNone/>
            </a:pPr>
            <a:r>
              <a:rPr i="1" lang="en" sz="1000" b="1">
                <a:solidFill>
                  <a:srgbClr val="141414"/>
                </a:solidFill>
                <a:latin typeface="Nunito"/>
                <a:ea typeface="Nunito"/>
                <a:cs typeface="Nunito"/>
                <a:sym typeface="Nunito"/>
              </a:rPr>
              <a:t>USE OF FUNDS:</a:t>
            </a:r>
            <a:endParaRPr sz="1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rPr b="1">
                <a:solidFill>
                  <a:srgbClr val="141414"/>
                </a:solidFill>
              </a:rPr>
              <a:t>• Product &amp; engineering — 40% (US$72,000)</a:t>
            </a:r>
            <a:endParaRPr sz="1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573"/>
              </a:buClr>
              <a:buSzPts val="1000"/>
              <a:buFont typeface="Arial"/>
              <a:buNone/>
            </a:pPr>
            <a:r>
              <a:rPr i="1" lang="en" sz="1000" b="1">
                <a:solidFill>
                  <a:srgbClr val="141414"/>
                </a:solidFill>
                <a:latin typeface="Nunito"/>
                <a:ea typeface="Nunito"/>
                <a:cs typeface="Nunito"/>
                <a:sym typeface="Nunito"/>
              </a:rPr>
              <a:t>• Artisan &amp; guide network growth — 35% (US$63,000)</a:t>
            </a:r>
            <a:endParaRPr sz="1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573"/>
              </a:buClr>
              <a:buSzPts val="1000"/>
              <a:buFont typeface="Arial"/>
              <a:buNone/>
            </a:pPr>
            <a:r>
              <a:rPr i="1" lang="en" sz="1000" b="1">
                <a:solidFill>
                  <a:srgbClr val="141414"/>
                </a:solidFill>
                <a:latin typeface="Nunito"/>
                <a:ea typeface="Nunito"/>
                <a:cs typeface="Nunito"/>
                <a:sym typeface="Nunito"/>
              </a:rPr>
              <a:t>• Marketing &amp; pilot launch — 25% (US$45,000)</a:t>
            </a:r>
            <a:endParaRPr sz="1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573"/>
              </a:buClr>
              <a:buSzPts val="1000"/>
              <a:buFont typeface="Arial"/>
              <a:buNone/>
            </a:pPr>
            <a:r>
              <a:rPr i="1" lang="en" sz="1000" b="1">
                <a:solidFill>
                  <a:srgbClr val="141414"/>
                </a:solidFill>
                <a:latin typeface="Nunito"/>
                <a:ea typeface="Nunito"/>
                <a:cs typeface="Nunito"/>
                <a:sym typeface="Nunito"/>
              </a:rPr>
              <a:t/>
            </a:r>
            <a:endParaRPr sz="1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573"/>
              </a:buClr>
              <a:buSzPts val="1000"/>
              <a:buFont typeface="Arial"/>
              <a:buNone/>
            </a:pPr>
            <a:r>
              <a:rPr i="1" lang="en" sz="1000" b="1">
                <a:solidFill>
                  <a:srgbClr val="141414"/>
                </a:solidFill>
                <a:latin typeface="Nunito"/>
                <a:ea typeface="Nunito"/>
                <a:cs typeface="Nunito"/>
                <a:sym typeface="Nunito"/>
              </a:rPr>
              <a:t/>
            </a:r>
            <a:endParaRPr sz="1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89" name="Google Shape;289;p25"/>
          <p:cNvSpPr/>
          <p:nvPr/>
        </p:nvSpPr>
        <p:spPr>
          <a:xfrm>
            <a:off x="4491990" y="2023110"/>
            <a:ext cx="4320540" cy="2331720"/>
          </a:xfrm>
          <a:prstGeom prst="roundRect">
            <a:avLst>
              <a:gd fmla="val 2353" name="adj"/>
            </a:avLst>
          </a:prstGeom>
          <a:solidFill>
            <a:srgbClr val="F7F9F8"/>
          </a:solidFill>
          <a:ln cap="flat" cmpd="sng" w="12700">
            <a:solidFill>
              <a:srgbClr val="DCE3E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rgbClr val="141414"/>
                </a:solidFill>
              </a:rPr>
              <a:t/>
            </a:r>
            <a:endParaRPr/>
          </a:p>
        </p:txBody>
      </p:sp>
      <p:sp>
        <p:nvSpPr>
          <p:cNvPr id="290" name="Google Shape;290;p25"/>
          <p:cNvSpPr/>
          <p:nvPr/>
        </p:nvSpPr>
        <p:spPr>
          <a:xfrm>
            <a:off x="4663440" y="2160270"/>
            <a:ext cx="397764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573"/>
              </a:buClr>
              <a:buSzPts val="1000"/>
              <a:buFont typeface="Arial"/>
              <a:buNone/>
            </a:pPr>
            <a:r>
              <a:rPr i="1" lang="en" sz="1000" b="1">
                <a:solidFill>
                  <a:srgbClr val="141414"/>
                </a:solidFill>
                <a:latin typeface="Nunito"/>
                <a:ea typeface="Nunito"/>
                <a:cs typeface="Nunito"/>
                <a:sym typeface="Nunito"/>
              </a:rPr>
              <a:t>12–24 MONTH PROJECTION</a:t>
            </a:r>
            <a:endParaRPr sz="1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rPr b="1">
                <a:solidFill>
                  <a:srgbClr val="141414"/>
                </a:solidFill>
              </a:rPr>
              <a:t>Shop partners onboarded (model): 24 → 40 → 65 → 90 → 120 → 160 → 210 → 270 over 8 quarters.</a:t>
            </a:r>
            <a:endParaRPr sz="1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573"/>
              </a:buClr>
              <a:buSzPts val="1000"/>
              <a:buFont typeface="Arial"/>
              <a:buNone/>
            </a:pPr>
            <a:r>
              <a:rPr i="1" lang="en" sz="1000" b="1">
                <a:solidFill>
                  <a:srgbClr val="141414"/>
                </a:solidFill>
                <a:latin typeface="Nunito"/>
                <a:ea typeface="Nunito"/>
                <a:cs typeface="Nunito"/>
                <a:sym typeface="Nunito"/>
              </a:rPr>
              <a:t>Y3 modeled platform revenue ~US$5.0M at 11% blended take on US$45M GMV.</a:t>
            </a:r>
            <a:endParaRPr sz="1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573"/>
              </a:buClr>
              <a:buSzPts val="1000"/>
              <a:buFont typeface="Arial"/>
              <a:buNone/>
            </a:pPr>
            <a:r>
              <a:rPr i="1" lang="en" sz="1000" b="1">
                <a:solidFill>
                  <a:srgbClr val="141414"/>
                </a:solidFill>
                <a:latin typeface="Nunito"/>
                <a:ea typeface="Nunito"/>
                <a:cs typeface="Nunito"/>
                <a:sym typeface="Nunito"/>
              </a:rPr>
              <a:t>Headline metric: named Kenyan shops live on Aurora with M-Pesa checkout.</a:t>
            </a:r>
            <a:endParaRPr sz="1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573"/>
              </a:buClr>
              <a:buSzPts val="1000"/>
              <a:buFont typeface="Arial"/>
              <a:buNone/>
            </a:pPr>
            <a:r>
              <a:rPr i="1" lang="en" sz="1000" b="1">
                <a:solidFill>
                  <a:srgbClr val="141414"/>
                </a:solidFill>
                <a:latin typeface="Nunito"/>
                <a:ea typeface="Nunito"/>
                <a:cs typeface="Nunito"/>
                <a:sym typeface="Nunito"/>
              </a:rPr>
              <a:t>Ask and growth curve are founder-proposed for the pilot — not achieved figures.</a:t>
            </a:r>
            <a:endParaRPr sz="1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573"/>
              </a:buClr>
              <a:buSzPts val="1000"/>
              <a:buFont typeface="Arial"/>
              <a:buNone/>
            </a:pPr>
            <a:r>
              <a:rPr i="1" lang="en" sz="1000" b="1">
                <a:solidFill>
                  <a:srgbClr val="141414"/>
                </a:solidFill>
                <a:latin typeface="Nunito"/>
                <a:ea typeface="Nunito"/>
                <a:cs typeface="Nunito"/>
                <a:sym typeface="Nunito"/>
              </a:rPr>
              <a:t/>
            </a:r>
            <a:endParaRPr sz="1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573"/>
              </a:buClr>
              <a:buSzPts val="1000"/>
              <a:buFont typeface="Arial"/>
              <a:buNone/>
            </a:pPr>
            <a:r>
              <a:rPr i="1" lang="en" sz="1000" b="1">
                <a:solidFill>
                  <a:srgbClr val="141414"/>
                </a:solidFill>
                <a:latin typeface="Nunito"/>
                <a:ea typeface="Nunito"/>
                <a:cs typeface="Nunito"/>
                <a:sym typeface="Nunito"/>
              </a:rPr>
              <a:t/>
            </a:r>
            <a:endParaRPr sz="1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